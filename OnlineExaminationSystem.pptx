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sldIdLst>
    <p:sldId id="256" r:id="rId2"/>
    <p:sldId id="258" r:id="rId3"/>
    <p:sldId id="262" r:id="rId4"/>
    <p:sldId id="260" r:id="rId5"/>
    <p:sldId id="261"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172EC6B-F830-4673-88B5-0DB7CFB7CA0D}" type="datetimeFigureOut">
              <a:rPr lang="en-IN" smtClean="0"/>
              <a:t>25-05-2023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6045F2-0833-40F1-ADFF-1D565F482BD3}" type="slidenum">
              <a:rPr lang="en-IN" smtClean="0"/>
              <a:t>‹#›</a:t>
            </a:fld>
            <a:endParaRPr lang="en-IN"/>
          </a:p>
        </p:txBody>
      </p:sp>
    </p:spTree>
    <p:extLst>
      <p:ext uri="{BB962C8B-B14F-4D97-AF65-F5344CB8AC3E}">
        <p14:creationId xmlns:p14="http://schemas.microsoft.com/office/powerpoint/2010/main" val="3386031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72EC6B-F830-4673-88B5-0DB7CFB7CA0D}" type="datetimeFigureOut">
              <a:rPr lang="en-IN" smtClean="0"/>
              <a:t>25-05-2023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6045F2-0833-40F1-ADFF-1D565F482BD3}" type="slidenum">
              <a:rPr lang="en-IN" smtClean="0"/>
              <a:t>‹#›</a:t>
            </a:fld>
            <a:endParaRPr lang="en-IN"/>
          </a:p>
        </p:txBody>
      </p:sp>
    </p:spTree>
    <p:extLst>
      <p:ext uri="{BB962C8B-B14F-4D97-AF65-F5344CB8AC3E}">
        <p14:creationId xmlns:p14="http://schemas.microsoft.com/office/powerpoint/2010/main" val="3833978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172EC6B-F830-4673-88B5-0DB7CFB7CA0D}" type="datetimeFigureOut">
              <a:rPr lang="en-IN" smtClean="0"/>
              <a:t>25-05-2023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6045F2-0833-40F1-ADFF-1D565F482BD3}" type="slidenum">
              <a:rPr lang="en-IN" smtClean="0"/>
              <a:t>‹#›</a:t>
            </a:fld>
            <a:endParaRPr lang="en-IN"/>
          </a:p>
        </p:txBody>
      </p:sp>
    </p:spTree>
    <p:extLst>
      <p:ext uri="{BB962C8B-B14F-4D97-AF65-F5344CB8AC3E}">
        <p14:creationId xmlns:p14="http://schemas.microsoft.com/office/powerpoint/2010/main" val="4159551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172EC6B-F830-4673-88B5-0DB7CFB7CA0D}" type="datetimeFigureOut">
              <a:rPr lang="en-IN" smtClean="0"/>
              <a:t>25-05-2023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6045F2-0833-40F1-ADFF-1D565F482BD3}" type="slidenum">
              <a:rPr lang="en-IN" smtClean="0"/>
              <a:t>‹#›</a:t>
            </a:fld>
            <a:endParaRPr lang="en-IN"/>
          </a:p>
        </p:txBody>
      </p:sp>
    </p:spTree>
    <p:extLst>
      <p:ext uri="{BB962C8B-B14F-4D97-AF65-F5344CB8AC3E}">
        <p14:creationId xmlns:p14="http://schemas.microsoft.com/office/powerpoint/2010/main" val="770648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172EC6B-F830-4673-88B5-0DB7CFB7CA0D}" type="datetimeFigureOut">
              <a:rPr lang="en-IN" smtClean="0"/>
              <a:t>25-05-2023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D6045F2-0833-40F1-ADFF-1D565F482BD3}" type="slidenum">
              <a:rPr lang="en-IN" smtClean="0"/>
              <a:t>‹#›</a:t>
            </a:fld>
            <a:endParaRPr lang="en-IN"/>
          </a:p>
        </p:txBody>
      </p:sp>
    </p:spTree>
    <p:extLst>
      <p:ext uri="{BB962C8B-B14F-4D97-AF65-F5344CB8AC3E}">
        <p14:creationId xmlns:p14="http://schemas.microsoft.com/office/powerpoint/2010/main" val="751054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172EC6B-F830-4673-88B5-0DB7CFB7CA0D}" type="datetimeFigureOut">
              <a:rPr lang="en-IN" smtClean="0"/>
              <a:t>25-05-2023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D6045F2-0833-40F1-ADFF-1D565F482BD3}" type="slidenum">
              <a:rPr lang="en-IN" smtClean="0"/>
              <a:t>‹#›</a:t>
            </a:fld>
            <a:endParaRPr lang="en-IN"/>
          </a:p>
        </p:txBody>
      </p:sp>
    </p:spTree>
    <p:extLst>
      <p:ext uri="{BB962C8B-B14F-4D97-AF65-F5344CB8AC3E}">
        <p14:creationId xmlns:p14="http://schemas.microsoft.com/office/powerpoint/2010/main" val="337886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72EC6B-F830-4673-88B5-0DB7CFB7CA0D}" type="datetimeFigureOut">
              <a:rPr lang="en-IN" smtClean="0"/>
              <a:t>25-05-2023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D6045F2-0833-40F1-ADFF-1D565F482BD3}" type="slidenum">
              <a:rPr lang="en-IN" smtClean="0"/>
              <a:t>‹#›</a:t>
            </a:fld>
            <a:endParaRPr lang="en-IN"/>
          </a:p>
        </p:txBody>
      </p:sp>
    </p:spTree>
    <p:extLst>
      <p:ext uri="{BB962C8B-B14F-4D97-AF65-F5344CB8AC3E}">
        <p14:creationId xmlns:p14="http://schemas.microsoft.com/office/powerpoint/2010/main" val="70707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172EC6B-F830-4673-88B5-0DB7CFB7CA0D}" type="datetimeFigureOut">
              <a:rPr lang="en-IN" smtClean="0"/>
              <a:t>25-05-2023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6045F2-0833-40F1-ADFF-1D565F482BD3}" type="slidenum">
              <a:rPr lang="en-IN" smtClean="0"/>
              <a:t>‹#›</a:t>
            </a:fld>
            <a:endParaRPr lang="en-IN"/>
          </a:p>
        </p:txBody>
      </p:sp>
    </p:spTree>
    <p:extLst>
      <p:ext uri="{BB962C8B-B14F-4D97-AF65-F5344CB8AC3E}">
        <p14:creationId xmlns:p14="http://schemas.microsoft.com/office/powerpoint/2010/main" val="3021323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6045F2-0833-40F1-ADFF-1D565F482BD3}" type="slidenum">
              <a:rPr lang="en-IN" smtClean="0"/>
              <a:t>‹#›</a:t>
            </a:fld>
            <a:endParaRPr lang="en-IN"/>
          </a:p>
        </p:txBody>
      </p:sp>
      <p:sp>
        <p:nvSpPr>
          <p:cNvPr id="5" name="Date Placeholder 4"/>
          <p:cNvSpPr>
            <a:spLocks noGrp="1"/>
          </p:cNvSpPr>
          <p:nvPr>
            <p:ph type="dt" sz="half" idx="10"/>
          </p:nvPr>
        </p:nvSpPr>
        <p:spPr/>
        <p:txBody>
          <a:bodyPr/>
          <a:lstStyle/>
          <a:p>
            <a:fld id="{C172EC6B-F830-4673-88B5-0DB7CFB7CA0D}" type="datetimeFigureOut">
              <a:rPr lang="en-IN" smtClean="0"/>
              <a:t>25-05-2023</a:t>
            </a:fld>
            <a:endParaRPr lang="en-IN"/>
          </a:p>
        </p:txBody>
      </p:sp>
    </p:spTree>
    <p:extLst>
      <p:ext uri="{BB962C8B-B14F-4D97-AF65-F5344CB8AC3E}">
        <p14:creationId xmlns:p14="http://schemas.microsoft.com/office/powerpoint/2010/main" val="1584116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172EC6B-F830-4673-88B5-0DB7CFB7CA0D}" type="datetimeFigureOut">
              <a:rPr lang="en-IN" smtClean="0"/>
              <a:t>25-05-2023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6045F2-0833-40F1-ADFF-1D565F482BD3}" type="slidenum">
              <a:rPr lang="en-IN" smtClean="0"/>
              <a:t>‹#›</a:t>
            </a:fld>
            <a:endParaRPr lang="en-IN"/>
          </a:p>
        </p:txBody>
      </p:sp>
    </p:spTree>
    <p:extLst>
      <p:ext uri="{BB962C8B-B14F-4D97-AF65-F5344CB8AC3E}">
        <p14:creationId xmlns:p14="http://schemas.microsoft.com/office/powerpoint/2010/main" val="818267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172EC6B-F830-4673-88B5-0DB7CFB7CA0D}" type="datetimeFigureOut">
              <a:rPr lang="en-IN" smtClean="0"/>
              <a:t>25-05-2023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6045F2-0833-40F1-ADFF-1D565F482BD3}"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50815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172EC6B-F830-4673-88B5-0DB7CFB7CA0D}" type="datetimeFigureOut">
              <a:rPr lang="en-IN" smtClean="0"/>
              <a:t>25-05-2023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6045F2-0833-40F1-ADFF-1D565F482BD3}" type="slidenum">
              <a:rPr lang="en-IN" smtClean="0"/>
              <a:t>‹#›</a:t>
            </a:fld>
            <a:endParaRPr lang="en-IN"/>
          </a:p>
        </p:txBody>
      </p:sp>
    </p:spTree>
    <p:extLst>
      <p:ext uri="{BB962C8B-B14F-4D97-AF65-F5344CB8AC3E}">
        <p14:creationId xmlns:p14="http://schemas.microsoft.com/office/powerpoint/2010/main" val="1318461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172EC6B-F830-4673-88B5-0DB7CFB7CA0D}" type="datetimeFigureOut">
              <a:rPr lang="en-IN" smtClean="0"/>
              <a:t>25-05-2023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6045F2-0833-40F1-ADFF-1D565F482BD3}"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68380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172EC6B-F830-4673-88B5-0DB7CFB7CA0D}" type="datetimeFigureOut">
              <a:rPr lang="en-IN" smtClean="0"/>
              <a:t>25-05-2023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6045F2-0833-40F1-ADFF-1D565F482BD3}" type="slidenum">
              <a:rPr lang="en-IN" smtClean="0"/>
              <a:t>‹#›</a:t>
            </a:fld>
            <a:endParaRPr lang="en-IN"/>
          </a:p>
        </p:txBody>
      </p:sp>
    </p:spTree>
    <p:extLst>
      <p:ext uri="{BB962C8B-B14F-4D97-AF65-F5344CB8AC3E}">
        <p14:creationId xmlns:p14="http://schemas.microsoft.com/office/powerpoint/2010/main" val="16208295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72EC6B-F830-4673-88B5-0DB7CFB7CA0D}" type="datetimeFigureOut">
              <a:rPr lang="en-IN" smtClean="0"/>
              <a:t>25-05-2023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6045F2-0833-40F1-ADFF-1D565F482BD3}" type="slidenum">
              <a:rPr lang="en-IN" smtClean="0"/>
              <a:t>‹#›</a:t>
            </a:fld>
            <a:endParaRPr lang="en-IN"/>
          </a:p>
        </p:txBody>
      </p:sp>
    </p:spTree>
    <p:extLst>
      <p:ext uri="{BB962C8B-B14F-4D97-AF65-F5344CB8AC3E}">
        <p14:creationId xmlns:p14="http://schemas.microsoft.com/office/powerpoint/2010/main" val="2801375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72EC6B-F830-4673-88B5-0DB7CFB7CA0D}" type="datetimeFigureOut">
              <a:rPr lang="en-IN" smtClean="0"/>
              <a:t>25-05-2023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6045F2-0833-40F1-ADFF-1D565F482BD3}" type="slidenum">
              <a:rPr lang="en-IN" smtClean="0"/>
              <a:t>‹#›</a:t>
            </a:fld>
            <a:endParaRPr lang="en-IN"/>
          </a:p>
        </p:txBody>
      </p:sp>
    </p:spTree>
    <p:extLst>
      <p:ext uri="{BB962C8B-B14F-4D97-AF65-F5344CB8AC3E}">
        <p14:creationId xmlns:p14="http://schemas.microsoft.com/office/powerpoint/2010/main" val="2755293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172EC6B-F830-4673-88B5-0DB7CFB7CA0D}" type="datetimeFigureOut">
              <a:rPr lang="en-IN" smtClean="0"/>
              <a:t>25-05-2023</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2D6045F2-0833-40F1-ADFF-1D565F482BD3}" type="slidenum">
              <a:rPr lang="en-IN" smtClean="0"/>
              <a:t>‹#›</a:t>
            </a:fld>
            <a:endParaRPr lang="en-IN"/>
          </a:p>
        </p:txBody>
      </p:sp>
    </p:spTree>
    <p:extLst>
      <p:ext uri="{BB962C8B-B14F-4D97-AF65-F5344CB8AC3E}">
        <p14:creationId xmlns:p14="http://schemas.microsoft.com/office/powerpoint/2010/main" val="667635870"/>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ED6C7-FBF5-3C0F-08B5-0697FCCA2C92}"/>
              </a:ext>
            </a:extLst>
          </p:cNvPr>
          <p:cNvSpPr>
            <a:spLocks noGrp="1"/>
          </p:cNvSpPr>
          <p:nvPr>
            <p:ph type="ctrTitle"/>
          </p:nvPr>
        </p:nvSpPr>
        <p:spPr>
          <a:xfrm>
            <a:off x="0" y="0"/>
            <a:ext cx="12192000" cy="6858000"/>
          </a:xfrm>
        </p:spPr>
        <p:txBody>
          <a:bodyPr anchor="ctr"/>
          <a:lstStyle/>
          <a:p>
            <a:pPr algn="ctr"/>
            <a:r>
              <a:rPr lang="en-IN" sz="3200" b="1" dirty="0">
                <a:solidFill>
                  <a:schemeClr val="tx1"/>
                </a:solidFill>
                <a:latin typeface="Palatino Linotype" panose="02040502050505030304" pitchFamily="18" charset="0"/>
              </a:rPr>
              <a:t>Project Presentation </a:t>
            </a:r>
            <a:br>
              <a:rPr lang="en-IN" sz="3200" b="1" dirty="0">
                <a:solidFill>
                  <a:schemeClr val="tx1"/>
                </a:solidFill>
                <a:latin typeface="Palatino Linotype" panose="02040502050505030304" pitchFamily="18" charset="0"/>
              </a:rPr>
            </a:br>
            <a:r>
              <a:rPr lang="en-IN" sz="3200" b="1" dirty="0">
                <a:solidFill>
                  <a:schemeClr val="tx1"/>
                </a:solidFill>
                <a:latin typeface="Palatino Linotype" panose="02040502050505030304" pitchFamily="18" charset="0"/>
              </a:rPr>
              <a:t>on</a:t>
            </a:r>
            <a:br>
              <a:rPr lang="en-IN" sz="3200" b="1" dirty="0">
                <a:solidFill>
                  <a:schemeClr val="tx1"/>
                </a:solidFill>
                <a:latin typeface="Palatino Linotype" panose="02040502050505030304" pitchFamily="18" charset="0"/>
              </a:rPr>
            </a:br>
            <a:br>
              <a:rPr lang="en-IN" sz="2800" b="1" dirty="0">
                <a:solidFill>
                  <a:schemeClr val="tx1"/>
                </a:solidFill>
                <a:latin typeface="Palatino Linotype" panose="02040502050505030304" pitchFamily="18" charset="0"/>
              </a:rPr>
            </a:br>
            <a:r>
              <a:rPr lang="en-IN" sz="2800" b="1" dirty="0">
                <a:solidFill>
                  <a:schemeClr val="tx1"/>
                </a:solidFill>
                <a:latin typeface="Palatino Linotype" panose="02040502050505030304" pitchFamily="18" charset="0"/>
              </a:rPr>
              <a:t>Online Examination System</a:t>
            </a:r>
            <a:br>
              <a:rPr lang="en-IN" sz="2800" b="1" dirty="0">
                <a:solidFill>
                  <a:schemeClr val="tx1"/>
                </a:solidFill>
                <a:latin typeface="Palatino Linotype" panose="02040502050505030304" pitchFamily="18" charset="0"/>
              </a:rPr>
            </a:br>
            <a:br>
              <a:rPr lang="en-IN" sz="2800" b="1" dirty="0">
                <a:solidFill>
                  <a:schemeClr val="tx1"/>
                </a:solidFill>
                <a:latin typeface="Palatino Linotype" panose="02040502050505030304" pitchFamily="18" charset="0"/>
              </a:rPr>
            </a:br>
            <a:r>
              <a:rPr lang="en-IN" sz="1800" b="1" dirty="0">
                <a:solidFill>
                  <a:schemeClr val="tx1"/>
                </a:solidFill>
                <a:latin typeface="Palatino Linotype" panose="02040502050505030304" pitchFamily="18" charset="0"/>
              </a:rPr>
              <a:t>By</a:t>
            </a:r>
            <a:br>
              <a:rPr lang="en-IN" sz="1800" b="1" dirty="0">
                <a:solidFill>
                  <a:schemeClr val="tx1"/>
                </a:solidFill>
                <a:latin typeface="Palatino Linotype" panose="02040502050505030304" pitchFamily="18" charset="0"/>
              </a:rPr>
            </a:br>
            <a:br>
              <a:rPr lang="en-IN" sz="1800" b="1" dirty="0">
                <a:solidFill>
                  <a:schemeClr val="tx1"/>
                </a:solidFill>
                <a:latin typeface="Palatino Linotype" panose="02040502050505030304" pitchFamily="18" charset="0"/>
              </a:rPr>
            </a:br>
            <a:r>
              <a:rPr lang="en-IN" sz="1800" b="1" dirty="0" err="1">
                <a:solidFill>
                  <a:schemeClr val="tx1"/>
                </a:solidFill>
                <a:latin typeface="Palatino Linotype" panose="02040502050505030304" pitchFamily="18" charset="0"/>
              </a:rPr>
              <a:t>Thakare</a:t>
            </a:r>
            <a:r>
              <a:rPr lang="en-IN" sz="1800" b="1" dirty="0">
                <a:solidFill>
                  <a:schemeClr val="tx1"/>
                </a:solidFill>
                <a:latin typeface="Palatino Linotype" panose="02040502050505030304" pitchFamily="18" charset="0"/>
              </a:rPr>
              <a:t> </a:t>
            </a:r>
            <a:r>
              <a:rPr lang="en-IN" sz="1800" b="1" dirty="0" err="1">
                <a:solidFill>
                  <a:schemeClr val="tx1"/>
                </a:solidFill>
                <a:latin typeface="Palatino Linotype" panose="02040502050505030304" pitchFamily="18" charset="0"/>
              </a:rPr>
              <a:t>Pranoti</a:t>
            </a:r>
            <a:r>
              <a:rPr lang="en-IN" sz="1800" b="1" dirty="0">
                <a:solidFill>
                  <a:schemeClr val="tx1"/>
                </a:solidFill>
                <a:latin typeface="Palatino Linotype" panose="02040502050505030304" pitchFamily="18" charset="0"/>
              </a:rPr>
              <a:t> </a:t>
            </a:r>
            <a:r>
              <a:rPr lang="en-IN" sz="1800" b="1" dirty="0" err="1">
                <a:solidFill>
                  <a:schemeClr val="tx1"/>
                </a:solidFill>
                <a:latin typeface="Palatino Linotype" panose="02040502050505030304" pitchFamily="18" charset="0"/>
              </a:rPr>
              <a:t>Kamalakar</a:t>
            </a:r>
            <a:r>
              <a:rPr lang="en-IN" sz="1800" b="1" dirty="0">
                <a:solidFill>
                  <a:schemeClr val="tx1"/>
                </a:solidFill>
                <a:latin typeface="Palatino Linotype" panose="02040502050505030304" pitchFamily="18" charset="0"/>
              </a:rPr>
              <a:t> (Roll No. 19)</a:t>
            </a:r>
            <a:br>
              <a:rPr lang="en-IN" sz="1800" b="1" dirty="0">
                <a:solidFill>
                  <a:schemeClr val="tx1"/>
                </a:solidFill>
                <a:latin typeface="Palatino Linotype" panose="02040502050505030304" pitchFamily="18" charset="0"/>
              </a:rPr>
            </a:br>
            <a:r>
              <a:rPr lang="en-IN" sz="1800" b="1" dirty="0">
                <a:solidFill>
                  <a:schemeClr val="tx1"/>
                </a:solidFill>
                <a:latin typeface="Palatino Linotype" panose="02040502050505030304" pitchFamily="18" charset="0"/>
              </a:rPr>
              <a:t>Chavan Mamta Eknath         (Roll No. 20)</a:t>
            </a:r>
            <a:br>
              <a:rPr lang="en-IN" sz="1800" b="1" dirty="0">
                <a:solidFill>
                  <a:schemeClr val="tx1"/>
                </a:solidFill>
                <a:latin typeface="Palatino Linotype" panose="02040502050505030304" pitchFamily="18" charset="0"/>
              </a:rPr>
            </a:br>
            <a:r>
              <a:rPr lang="en-IN" sz="1800" b="1" dirty="0">
                <a:solidFill>
                  <a:schemeClr val="tx1"/>
                </a:solidFill>
                <a:latin typeface="Palatino Linotype" panose="02040502050505030304" pitchFamily="18" charset="0"/>
              </a:rPr>
              <a:t>Ahire Nalini Ashok               (Roll No. 21)</a:t>
            </a:r>
            <a:br>
              <a:rPr lang="en-IN" sz="1800" b="1" dirty="0">
                <a:solidFill>
                  <a:schemeClr val="tx1"/>
                </a:solidFill>
                <a:latin typeface="Palatino Linotype" panose="02040502050505030304" pitchFamily="18" charset="0"/>
              </a:rPr>
            </a:br>
            <a:r>
              <a:rPr lang="en-IN" sz="1800" b="1" dirty="0" err="1">
                <a:solidFill>
                  <a:schemeClr val="tx1"/>
                </a:solidFill>
                <a:latin typeface="Palatino Linotype" panose="02040502050505030304" pitchFamily="18" charset="0"/>
              </a:rPr>
              <a:t>Musale</a:t>
            </a:r>
            <a:r>
              <a:rPr lang="en-IN" sz="1800" b="1" dirty="0">
                <a:solidFill>
                  <a:schemeClr val="tx1"/>
                </a:solidFill>
                <a:latin typeface="Palatino Linotype" panose="02040502050505030304" pitchFamily="18" charset="0"/>
              </a:rPr>
              <a:t> Vaishnavi Kishor     (Roll No. 54)</a:t>
            </a:r>
            <a:br>
              <a:rPr lang="en-IN" sz="1800" b="1" dirty="0">
                <a:solidFill>
                  <a:schemeClr val="tx1"/>
                </a:solidFill>
                <a:latin typeface="Palatino Linotype" panose="02040502050505030304" pitchFamily="18" charset="0"/>
              </a:rPr>
            </a:br>
            <a:br>
              <a:rPr lang="en-IN" sz="1800" b="1" dirty="0">
                <a:solidFill>
                  <a:schemeClr val="tx1"/>
                </a:solidFill>
                <a:latin typeface="Palatino Linotype" panose="02040502050505030304" pitchFamily="18" charset="0"/>
              </a:rPr>
            </a:br>
            <a:r>
              <a:rPr lang="en-IN" sz="1800" b="1" dirty="0">
                <a:solidFill>
                  <a:schemeClr val="tx1"/>
                </a:solidFill>
                <a:latin typeface="Palatino Linotype" panose="02040502050505030304" pitchFamily="18" charset="0"/>
              </a:rPr>
              <a:t>T. Y. B. Sc. (Computer Science)</a:t>
            </a:r>
            <a:endParaRPr lang="en-IN" sz="2800" b="1" dirty="0">
              <a:solidFill>
                <a:schemeClr val="tx1"/>
              </a:solidFill>
              <a:latin typeface="Palatino Linotype" panose="02040502050505030304" pitchFamily="18" charset="0"/>
            </a:endParaRPr>
          </a:p>
        </p:txBody>
      </p:sp>
    </p:spTree>
    <p:extLst>
      <p:ext uri="{BB962C8B-B14F-4D97-AF65-F5344CB8AC3E}">
        <p14:creationId xmlns:p14="http://schemas.microsoft.com/office/powerpoint/2010/main" val="4180290088"/>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7AE96-5B62-031C-F293-A8BE6279F3E4}"/>
              </a:ext>
            </a:extLst>
          </p:cNvPr>
          <p:cNvSpPr>
            <a:spLocks noGrp="1"/>
          </p:cNvSpPr>
          <p:nvPr>
            <p:ph type="title"/>
          </p:nvPr>
        </p:nvSpPr>
        <p:spPr>
          <a:xfrm>
            <a:off x="0" y="0"/>
            <a:ext cx="12192000" cy="1398494"/>
          </a:xfrm>
        </p:spPr>
        <p:txBody>
          <a:bodyPr anchor="ctr"/>
          <a:lstStyle/>
          <a:p>
            <a:pPr algn="ctr"/>
            <a:r>
              <a:rPr lang="en-IN" b="1" dirty="0">
                <a:solidFill>
                  <a:schemeClr val="tx1"/>
                </a:solidFill>
                <a:latin typeface="Palatino Linotype" panose="02040502050505030304" pitchFamily="18" charset="0"/>
              </a:rPr>
              <a:t>INDEX</a:t>
            </a:r>
          </a:p>
        </p:txBody>
      </p:sp>
      <p:sp>
        <p:nvSpPr>
          <p:cNvPr id="4" name="Title 1">
            <a:extLst>
              <a:ext uri="{FF2B5EF4-FFF2-40B4-BE49-F238E27FC236}">
                <a16:creationId xmlns:a16="http://schemas.microsoft.com/office/drawing/2014/main" id="{08FBA82F-AD17-7718-6F9A-0D3AB3A1A8C7}"/>
              </a:ext>
            </a:extLst>
          </p:cNvPr>
          <p:cNvSpPr txBox="1">
            <a:spLocks/>
          </p:cNvSpPr>
          <p:nvPr/>
        </p:nvSpPr>
        <p:spPr>
          <a:xfrm>
            <a:off x="977152" y="2115671"/>
            <a:ext cx="11214847" cy="4742329"/>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457200" indent="-457200">
              <a:buFont typeface="Arial" panose="020B0604020202020204" pitchFamily="34" charset="0"/>
              <a:buChar char="•"/>
            </a:pPr>
            <a:r>
              <a:rPr lang="en-IN" sz="2800" b="1" dirty="0">
                <a:solidFill>
                  <a:schemeClr val="tx1"/>
                </a:solidFill>
                <a:latin typeface="Palatino Linotype" panose="02040502050505030304" pitchFamily="18" charset="0"/>
              </a:rPr>
              <a:t>Introduction</a:t>
            </a:r>
          </a:p>
          <a:p>
            <a:pPr marL="457200" indent="-457200">
              <a:buFont typeface="Arial" panose="020B0604020202020204" pitchFamily="34" charset="0"/>
              <a:buChar char="•"/>
            </a:pPr>
            <a:r>
              <a:rPr lang="en-IN" sz="2800" b="1" dirty="0">
                <a:solidFill>
                  <a:schemeClr val="tx1"/>
                </a:solidFill>
                <a:latin typeface="Palatino Linotype" panose="02040502050505030304" pitchFamily="18" charset="0"/>
              </a:rPr>
              <a:t>System Analysis</a:t>
            </a:r>
          </a:p>
          <a:p>
            <a:pPr marL="457200" indent="-457200">
              <a:buFont typeface="Arial" panose="020B0604020202020204" pitchFamily="34" charset="0"/>
              <a:buChar char="•"/>
            </a:pPr>
            <a:r>
              <a:rPr lang="en-IN" sz="2800" b="1" dirty="0">
                <a:solidFill>
                  <a:schemeClr val="tx1"/>
                </a:solidFill>
                <a:latin typeface="Palatino Linotype" panose="02040502050505030304" pitchFamily="18" charset="0"/>
              </a:rPr>
              <a:t>Requirement Analysis</a:t>
            </a:r>
          </a:p>
          <a:p>
            <a:pPr marL="457200" indent="-457200">
              <a:buFont typeface="Arial" panose="020B0604020202020204" pitchFamily="34" charset="0"/>
              <a:buChar char="•"/>
            </a:pPr>
            <a:r>
              <a:rPr lang="en-IN" sz="2800" b="1" dirty="0">
                <a:solidFill>
                  <a:schemeClr val="tx1"/>
                </a:solidFill>
                <a:latin typeface="Palatino Linotype" panose="02040502050505030304" pitchFamily="18" charset="0"/>
              </a:rPr>
              <a:t>System Design</a:t>
            </a:r>
          </a:p>
          <a:p>
            <a:pPr marL="457200" indent="-457200">
              <a:buFont typeface="Arial" panose="020B0604020202020204" pitchFamily="34" charset="0"/>
              <a:buChar char="•"/>
            </a:pPr>
            <a:r>
              <a:rPr lang="en-IN" sz="2800" b="1" dirty="0">
                <a:solidFill>
                  <a:schemeClr val="tx1"/>
                </a:solidFill>
                <a:latin typeface="Palatino Linotype" panose="02040502050505030304" pitchFamily="18" charset="0"/>
              </a:rPr>
              <a:t>Implementation System</a:t>
            </a:r>
          </a:p>
          <a:p>
            <a:pPr marL="457200" indent="-457200">
              <a:buFont typeface="Arial" panose="020B0604020202020204" pitchFamily="34" charset="0"/>
              <a:buChar char="•"/>
            </a:pPr>
            <a:r>
              <a:rPr lang="en-IN" sz="2800" b="1" dirty="0">
                <a:solidFill>
                  <a:schemeClr val="tx1"/>
                </a:solidFill>
                <a:latin typeface="Palatino Linotype" panose="02040502050505030304" pitchFamily="18" charset="0"/>
              </a:rPr>
              <a:t>System Testing</a:t>
            </a:r>
          </a:p>
          <a:p>
            <a:pPr marL="457200" indent="-457200">
              <a:buFont typeface="Arial" panose="020B0604020202020204" pitchFamily="34" charset="0"/>
              <a:buChar char="•"/>
            </a:pPr>
            <a:r>
              <a:rPr lang="en-IN" sz="2800" b="1" dirty="0">
                <a:solidFill>
                  <a:schemeClr val="tx1"/>
                </a:solidFill>
                <a:latin typeface="Palatino Linotype" panose="02040502050505030304" pitchFamily="18" charset="0"/>
              </a:rPr>
              <a:t>Conclusion</a:t>
            </a:r>
          </a:p>
        </p:txBody>
      </p:sp>
    </p:spTree>
    <p:extLst>
      <p:ext uri="{BB962C8B-B14F-4D97-AF65-F5344CB8AC3E}">
        <p14:creationId xmlns:p14="http://schemas.microsoft.com/office/powerpoint/2010/main" val="843896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6CCC16-1E30-8795-51CA-7A0A2C227120}"/>
              </a:ext>
            </a:extLst>
          </p:cNvPr>
          <p:cNvSpPr txBox="1"/>
          <p:nvPr/>
        </p:nvSpPr>
        <p:spPr>
          <a:xfrm>
            <a:off x="2734235" y="295836"/>
            <a:ext cx="5262283" cy="646331"/>
          </a:xfrm>
          <a:prstGeom prst="rect">
            <a:avLst/>
          </a:prstGeom>
          <a:noFill/>
        </p:spPr>
        <p:txBody>
          <a:bodyPr wrap="square" rtlCol="0" anchor="ctr">
            <a:spAutoFit/>
          </a:bodyPr>
          <a:lstStyle/>
          <a:p>
            <a:pPr algn="ctr"/>
            <a:r>
              <a:rPr lang="en-IN" sz="3600" b="1" dirty="0">
                <a:latin typeface="Palatino Linotype" panose="02040502050505030304" pitchFamily="18" charset="0"/>
              </a:rPr>
              <a:t>Introduction</a:t>
            </a:r>
            <a:endParaRPr lang="en-IN" b="1" dirty="0">
              <a:latin typeface="Palatino Linotype" panose="02040502050505030304" pitchFamily="18" charset="0"/>
            </a:endParaRPr>
          </a:p>
        </p:txBody>
      </p:sp>
      <p:sp>
        <p:nvSpPr>
          <p:cNvPr id="3" name="TextBox 2">
            <a:extLst>
              <a:ext uri="{FF2B5EF4-FFF2-40B4-BE49-F238E27FC236}">
                <a16:creationId xmlns:a16="http://schemas.microsoft.com/office/drawing/2014/main" id="{DEA19C19-EB9F-0E65-4136-92529CD7FFCD}"/>
              </a:ext>
            </a:extLst>
          </p:cNvPr>
          <p:cNvSpPr txBox="1"/>
          <p:nvPr/>
        </p:nvSpPr>
        <p:spPr>
          <a:xfrm>
            <a:off x="1093696" y="2079812"/>
            <a:ext cx="6902822" cy="3693319"/>
          </a:xfrm>
          <a:prstGeom prst="rect">
            <a:avLst/>
          </a:prstGeom>
          <a:noFill/>
        </p:spPr>
        <p:txBody>
          <a:bodyPr wrap="square" rtlCol="0">
            <a:spAutoFit/>
          </a:bodyPr>
          <a:lstStyle/>
          <a:p>
            <a:pPr marL="0" indent="450000" algn="just">
              <a:buNone/>
            </a:pPr>
            <a:r>
              <a:rPr lang="en-IN" sz="1800" b="1" dirty="0">
                <a:latin typeface="Palatino Linotype" panose="02040502050505030304" pitchFamily="18" charset="0"/>
              </a:rPr>
              <a:t>In online examination system, exams are conducted through specific institute. This process is done by using internet. It needs less hard work for conducting exams. Compare to the earlier situation, it was necessary to prepare the question papers physically and distribute them to the examination </a:t>
            </a:r>
            <a:r>
              <a:rPr lang="en-IN" sz="1800" b="1" dirty="0" err="1">
                <a:latin typeface="Palatino Linotype" panose="02040502050505030304" pitchFamily="18" charset="0"/>
              </a:rPr>
              <a:t>centers</a:t>
            </a:r>
            <a:r>
              <a:rPr lang="en-IN" sz="1800" b="1" dirty="0">
                <a:latin typeface="Palatino Linotype" panose="02040502050505030304" pitchFamily="18" charset="0"/>
              </a:rPr>
              <a:t>. But with this system, question papers can be created in digital format and distributed as per requirement.</a:t>
            </a:r>
          </a:p>
          <a:p>
            <a:pPr marL="0" indent="450000" algn="just">
              <a:buNone/>
            </a:pPr>
            <a:endParaRPr lang="en-IN" b="1" dirty="0">
              <a:latin typeface="Palatino Linotype" panose="02040502050505030304" pitchFamily="18" charset="0"/>
            </a:endParaRPr>
          </a:p>
          <a:p>
            <a:pPr marL="0" indent="450000" algn="just">
              <a:buNone/>
            </a:pPr>
            <a:endParaRPr lang="en-IN" sz="1800" b="1" dirty="0">
              <a:latin typeface="Palatino Linotype" panose="02040502050505030304" pitchFamily="18" charset="0"/>
            </a:endParaRPr>
          </a:p>
          <a:p>
            <a:pPr marL="0" indent="450000" algn="just">
              <a:buNone/>
            </a:pPr>
            <a:endParaRPr lang="en-IN" b="1" dirty="0">
              <a:latin typeface="Palatino Linotype" panose="02040502050505030304" pitchFamily="18" charset="0"/>
            </a:endParaRPr>
          </a:p>
          <a:p>
            <a:pPr marL="0" indent="450000" algn="just">
              <a:buNone/>
            </a:pPr>
            <a:endParaRPr lang="en-IN" sz="1800" b="1" dirty="0">
              <a:latin typeface="Palatino Linotype" panose="02040502050505030304" pitchFamily="18" charset="0"/>
            </a:endParaRPr>
          </a:p>
          <a:p>
            <a:pPr marL="0" indent="450000" algn="just">
              <a:buNone/>
            </a:pPr>
            <a:endParaRPr lang="en-IN" b="1" dirty="0">
              <a:latin typeface="Palatino Linotype" panose="02040502050505030304" pitchFamily="18" charset="0"/>
            </a:endParaRPr>
          </a:p>
          <a:p>
            <a:pPr marL="0" indent="450000" algn="just">
              <a:buNone/>
            </a:pPr>
            <a:endParaRPr lang="en-IN" sz="1800" b="1" dirty="0">
              <a:latin typeface="Palatino Linotype" panose="02040502050505030304" pitchFamily="18" charset="0"/>
            </a:endParaRPr>
          </a:p>
        </p:txBody>
      </p:sp>
    </p:spTree>
    <p:extLst>
      <p:ext uri="{BB962C8B-B14F-4D97-AF65-F5344CB8AC3E}">
        <p14:creationId xmlns:p14="http://schemas.microsoft.com/office/powerpoint/2010/main" val="1972947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A5CA00-B101-6D51-22DE-ADC6D202D460}"/>
              </a:ext>
            </a:extLst>
          </p:cNvPr>
          <p:cNvSpPr txBox="1"/>
          <p:nvPr/>
        </p:nvSpPr>
        <p:spPr>
          <a:xfrm>
            <a:off x="3666563" y="231786"/>
            <a:ext cx="3908613" cy="646331"/>
          </a:xfrm>
          <a:prstGeom prst="rect">
            <a:avLst/>
          </a:prstGeom>
          <a:noFill/>
        </p:spPr>
        <p:txBody>
          <a:bodyPr wrap="square" rtlCol="0" anchor="ctr">
            <a:spAutoFit/>
          </a:bodyPr>
          <a:lstStyle/>
          <a:p>
            <a:pPr algn="ctr"/>
            <a:r>
              <a:rPr lang="en-IN" sz="3600" b="1" dirty="0">
                <a:latin typeface="Palatino Linotype" panose="02040502050505030304" pitchFamily="18" charset="0"/>
              </a:rPr>
              <a:t>System Analysis</a:t>
            </a:r>
          </a:p>
        </p:txBody>
      </p:sp>
      <p:sp>
        <p:nvSpPr>
          <p:cNvPr id="4" name="TextBox 3">
            <a:extLst>
              <a:ext uri="{FF2B5EF4-FFF2-40B4-BE49-F238E27FC236}">
                <a16:creationId xmlns:a16="http://schemas.microsoft.com/office/drawing/2014/main" id="{ABF7D889-96F7-D63A-AD76-1A37025C8444}"/>
              </a:ext>
            </a:extLst>
          </p:cNvPr>
          <p:cNvSpPr txBox="1"/>
          <p:nvPr/>
        </p:nvSpPr>
        <p:spPr>
          <a:xfrm>
            <a:off x="430307" y="1402977"/>
            <a:ext cx="8884022" cy="5232202"/>
          </a:xfrm>
          <a:prstGeom prst="rect">
            <a:avLst/>
          </a:prstGeom>
          <a:noFill/>
        </p:spPr>
        <p:txBody>
          <a:bodyPr wrap="square" rtlCol="0">
            <a:spAutoFit/>
          </a:bodyPr>
          <a:lstStyle/>
          <a:p>
            <a:pPr marL="457200" indent="-457200">
              <a:buFont typeface="Wingdings" panose="05000000000000000000" pitchFamily="2" charset="2"/>
              <a:buChar char="q"/>
            </a:pPr>
            <a:r>
              <a:rPr lang="en-IN" sz="2700" b="1" dirty="0">
                <a:latin typeface="Palatino Linotype" panose="02040502050505030304" pitchFamily="18" charset="0"/>
              </a:rPr>
              <a:t>Existing System :</a:t>
            </a:r>
          </a:p>
          <a:p>
            <a:endParaRPr lang="en-IN" sz="2000" b="1" dirty="0">
              <a:latin typeface="Palatino Linotype" panose="02040502050505030304" pitchFamily="18" charset="0"/>
            </a:endParaRPr>
          </a:p>
          <a:p>
            <a:pPr indent="450000"/>
            <a:r>
              <a:rPr lang="en-US" sz="2000" b="1" dirty="0">
                <a:latin typeface="Palatino Linotype" panose="02040502050505030304" pitchFamily="18" charset="0"/>
              </a:rPr>
              <a:t>The Existing System is the entry of humans into the digital world. The information of students already registered in this system is kept safe. One month registration details of students are required to be maintained but it is difficult to do the details manually. This requires a lot of manpower. It also causes loss of money and time.</a:t>
            </a:r>
            <a:endParaRPr lang="en-IN" sz="2000" b="1" dirty="0">
              <a:latin typeface="Palatino Linotype" panose="02040502050505030304" pitchFamily="18" charset="0"/>
            </a:endParaRPr>
          </a:p>
          <a:p>
            <a:endParaRPr lang="en-IN" sz="2000" b="1" dirty="0">
              <a:latin typeface="Palatino Linotype" panose="02040502050505030304" pitchFamily="18" charset="0"/>
            </a:endParaRPr>
          </a:p>
          <a:p>
            <a:pPr marL="457200" indent="-457200">
              <a:buFont typeface="Wingdings" panose="05000000000000000000" pitchFamily="2" charset="2"/>
              <a:buChar char="q"/>
            </a:pPr>
            <a:r>
              <a:rPr lang="en-IN" sz="2700" b="1" dirty="0">
                <a:latin typeface="Palatino Linotype" panose="02040502050505030304" pitchFamily="18" charset="0"/>
              </a:rPr>
              <a:t>Scope and Limitations :</a:t>
            </a:r>
          </a:p>
          <a:p>
            <a:endParaRPr lang="en-IN" sz="2000" b="1" dirty="0">
              <a:latin typeface="Palatino Linotype" panose="02040502050505030304" pitchFamily="18" charset="0"/>
            </a:endParaRPr>
          </a:p>
          <a:p>
            <a:pPr marL="457200" indent="-457200">
              <a:buFont typeface="+mj-lt"/>
              <a:buAutoNum type="arabicPeriod"/>
            </a:pPr>
            <a:r>
              <a:rPr lang="en-US" sz="2000" b="1" dirty="0">
                <a:latin typeface="Palatino Linotype" panose="02040502050505030304" pitchFamily="18" charset="0"/>
              </a:rPr>
              <a:t>Offline exams are very time consuming.</a:t>
            </a:r>
            <a:endParaRPr lang="en-IN" sz="2000" b="1" dirty="0">
              <a:latin typeface="Palatino Linotype" panose="02040502050505030304" pitchFamily="18" charset="0"/>
            </a:endParaRPr>
          </a:p>
          <a:p>
            <a:pPr marL="457200" indent="-457200">
              <a:buFont typeface="+mj-lt"/>
              <a:buAutoNum type="arabicPeriod"/>
            </a:pPr>
            <a:r>
              <a:rPr lang="en-US" sz="2000" b="1" dirty="0">
                <a:latin typeface="Palatino Linotype" panose="02040502050505030304" pitchFamily="18" charset="0"/>
              </a:rPr>
              <a:t>In this existing system the exams are done only manually.</a:t>
            </a:r>
          </a:p>
          <a:p>
            <a:pPr marL="457200" indent="-457200">
              <a:buFont typeface="+mj-lt"/>
              <a:buAutoNum type="arabicPeriod"/>
            </a:pPr>
            <a:r>
              <a:rPr lang="en-US" sz="2000" b="1" dirty="0">
                <a:latin typeface="Palatino Linotype" panose="02040502050505030304" pitchFamily="18" charset="0"/>
              </a:rPr>
              <a:t>It is very difficult to save or maintain question paper from damage.</a:t>
            </a:r>
          </a:p>
          <a:p>
            <a:pPr marL="457200" indent="-457200">
              <a:buFont typeface="+mj-lt"/>
              <a:buAutoNum type="arabicPeriod"/>
            </a:pPr>
            <a:r>
              <a:rPr lang="en-US" sz="2000" b="1" dirty="0">
                <a:latin typeface="Palatino Linotype" panose="02040502050505030304" pitchFamily="18" charset="0"/>
              </a:rPr>
              <a:t>Due to change in environment, it becomes difficult for the students who are far away to reach the exam center. </a:t>
            </a:r>
            <a:endParaRPr lang="en-IN" sz="2000" b="1" dirty="0">
              <a:latin typeface="Palatino Linotype" panose="02040502050505030304" pitchFamily="18" charset="0"/>
            </a:endParaRPr>
          </a:p>
          <a:p>
            <a:endParaRPr lang="en-IN" sz="2000" dirty="0">
              <a:latin typeface="Palatino Linotype" panose="02040502050505030304" pitchFamily="18" charset="0"/>
            </a:endParaRPr>
          </a:p>
        </p:txBody>
      </p:sp>
    </p:spTree>
    <p:extLst>
      <p:ext uri="{BB962C8B-B14F-4D97-AF65-F5344CB8AC3E}">
        <p14:creationId xmlns:p14="http://schemas.microsoft.com/office/powerpoint/2010/main" val="13322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FF1EE65-8ADF-EA9D-8720-D08A1E477D24}"/>
              </a:ext>
            </a:extLst>
          </p:cNvPr>
          <p:cNvSpPr txBox="1"/>
          <p:nvPr/>
        </p:nvSpPr>
        <p:spPr>
          <a:xfrm>
            <a:off x="2967319" y="197223"/>
            <a:ext cx="5011270" cy="646331"/>
          </a:xfrm>
          <a:prstGeom prst="rect">
            <a:avLst/>
          </a:prstGeom>
          <a:noFill/>
        </p:spPr>
        <p:txBody>
          <a:bodyPr wrap="square" rtlCol="0">
            <a:spAutoFit/>
          </a:bodyPr>
          <a:lstStyle/>
          <a:p>
            <a:r>
              <a:rPr lang="en-IN" sz="3600" b="1" dirty="0">
                <a:latin typeface="Palatino Linotype" panose="02040502050505030304" pitchFamily="18" charset="0"/>
              </a:rPr>
              <a:t>Requirement Analysis</a:t>
            </a:r>
          </a:p>
        </p:txBody>
      </p:sp>
      <p:sp>
        <p:nvSpPr>
          <p:cNvPr id="5" name="TextBox 4">
            <a:extLst>
              <a:ext uri="{FF2B5EF4-FFF2-40B4-BE49-F238E27FC236}">
                <a16:creationId xmlns:a16="http://schemas.microsoft.com/office/drawing/2014/main" id="{B2AED171-4B8B-CA62-D3DB-FC53539985E0}"/>
              </a:ext>
            </a:extLst>
          </p:cNvPr>
          <p:cNvSpPr txBox="1"/>
          <p:nvPr/>
        </p:nvSpPr>
        <p:spPr>
          <a:xfrm>
            <a:off x="268941" y="1479176"/>
            <a:ext cx="9215717" cy="4185761"/>
          </a:xfrm>
          <a:prstGeom prst="rect">
            <a:avLst/>
          </a:prstGeom>
          <a:noFill/>
        </p:spPr>
        <p:txBody>
          <a:bodyPr wrap="square" rtlCol="0">
            <a:spAutoFit/>
          </a:bodyPr>
          <a:lstStyle/>
          <a:p>
            <a:pPr marL="285750" indent="-285750">
              <a:buFont typeface="Wingdings" panose="05000000000000000000" pitchFamily="2" charset="2"/>
              <a:buChar char="q"/>
            </a:pPr>
            <a:r>
              <a:rPr lang="en-IN" sz="2400" b="1" dirty="0">
                <a:latin typeface="Palatino Linotype" panose="02040502050505030304" pitchFamily="18" charset="0"/>
              </a:rPr>
              <a:t>Functional Requirement :</a:t>
            </a:r>
          </a:p>
          <a:p>
            <a:endParaRPr lang="en-IN" sz="2000" b="1" dirty="0">
              <a:latin typeface="Palatino Linotype" panose="02040502050505030304" pitchFamily="18" charset="0"/>
            </a:endParaRPr>
          </a:p>
          <a:p>
            <a:pPr marL="342900" indent="-342900">
              <a:buFont typeface="+mj-lt"/>
              <a:buAutoNum type="arabicPeriod"/>
            </a:pPr>
            <a:r>
              <a:rPr lang="en-US" b="1" dirty="0">
                <a:latin typeface="Palatino Linotype" panose="02040502050505030304" pitchFamily="18" charset="0"/>
              </a:rPr>
              <a:t>The teacher will be able to add new questions in the exam.</a:t>
            </a:r>
          </a:p>
          <a:p>
            <a:pPr marL="342900" indent="-342900">
              <a:buFont typeface="+mj-lt"/>
              <a:buAutoNum type="arabicPeriod"/>
            </a:pPr>
            <a:r>
              <a:rPr lang="en-US" b="1" dirty="0">
                <a:latin typeface="Palatino Linotype" panose="02040502050505030304" pitchFamily="18" charset="0"/>
              </a:rPr>
              <a:t>The examination system will maintain different subject for exam.</a:t>
            </a:r>
          </a:p>
          <a:p>
            <a:pPr marL="342900" indent="-342900">
              <a:buFont typeface="+mj-lt"/>
              <a:buAutoNum type="arabicPeriod"/>
            </a:pPr>
            <a:r>
              <a:rPr lang="en-US" b="1" dirty="0">
                <a:latin typeface="Palatino Linotype" panose="02040502050505030304" pitchFamily="18" charset="0"/>
              </a:rPr>
              <a:t>The teacher can decide start time and end time of exam.</a:t>
            </a:r>
          </a:p>
          <a:p>
            <a:pPr marL="342900" indent="-342900">
              <a:buFont typeface="+mj-lt"/>
              <a:buAutoNum type="arabicPeriod"/>
            </a:pPr>
            <a:r>
              <a:rPr lang="en-US" b="1" dirty="0">
                <a:latin typeface="Palatino Linotype" panose="02040502050505030304" pitchFamily="18" charset="0"/>
              </a:rPr>
              <a:t>The system will be able to analyze exam.</a:t>
            </a:r>
          </a:p>
          <a:p>
            <a:pPr marL="342900" indent="-342900">
              <a:buFont typeface="+mj-lt"/>
              <a:buAutoNum type="arabicPeriod"/>
            </a:pPr>
            <a:endParaRPr lang="en-US" b="1" dirty="0">
              <a:latin typeface="Palatino Linotype" panose="02040502050505030304" pitchFamily="18" charset="0"/>
            </a:endParaRPr>
          </a:p>
          <a:p>
            <a:endParaRPr lang="en-US" b="1" dirty="0">
              <a:latin typeface="Palatino Linotype" panose="02040502050505030304" pitchFamily="18" charset="0"/>
            </a:endParaRPr>
          </a:p>
          <a:p>
            <a:pPr marL="342900" indent="-342900">
              <a:buFont typeface="Wingdings" panose="05000000000000000000" pitchFamily="2" charset="2"/>
              <a:buChar char="q"/>
            </a:pPr>
            <a:r>
              <a:rPr lang="en-IN" sz="2400" b="1" dirty="0">
                <a:latin typeface="Palatino Linotype" panose="02040502050505030304" pitchFamily="18" charset="0"/>
              </a:rPr>
              <a:t>Performance Requirements:</a:t>
            </a:r>
            <a:endParaRPr lang="en-IN" sz="2000" b="1" dirty="0">
              <a:latin typeface="Palatino Linotype" panose="02040502050505030304" pitchFamily="18" charset="0"/>
            </a:endParaRPr>
          </a:p>
          <a:p>
            <a:endParaRPr lang="en-IN" b="1" dirty="0">
              <a:latin typeface="Palatino Linotype" panose="02040502050505030304" pitchFamily="18" charset="0"/>
            </a:endParaRPr>
          </a:p>
          <a:p>
            <a:pPr marL="342900" indent="-342900">
              <a:buFont typeface="+mj-lt"/>
              <a:buAutoNum type="arabicPeriod"/>
            </a:pPr>
            <a:r>
              <a:rPr lang="en-US" b="1" dirty="0">
                <a:latin typeface="Palatino Linotype" panose="02040502050505030304" pitchFamily="18" charset="0"/>
              </a:rPr>
              <a:t>The software shall support use of multiple users at a time.</a:t>
            </a:r>
          </a:p>
          <a:p>
            <a:pPr marL="342900" indent="-342900">
              <a:buFont typeface="+mj-lt"/>
              <a:buAutoNum type="arabicPeriod"/>
            </a:pPr>
            <a:r>
              <a:rPr lang="en-US" b="1" dirty="0">
                <a:latin typeface="Palatino Linotype" panose="02040502050505030304" pitchFamily="18" charset="0"/>
              </a:rPr>
              <a:t>There are no other specific performance requirements that will affect development.</a:t>
            </a:r>
          </a:p>
          <a:p>
            <a:pPr marL="342900" indent="-342900">
              <a:buFont typeface="+mj-lt"/>
              <a:buAutoNum type="arabicPeriod"/>
            </a:pPr>
            <a:r>
              <a:rPr lang="en-US" b="1" dirty="0">
                <a:latin typeface="Palatino Linotype" panose="02040502050505030304" pitchFamily="18" charset="0"/>
              </a:rPr>
              <a:t>The system shall take as less time as possible to provide service to the administrator or the staff. </a:t>
            </a:r>
            <a:endParaRPr lang="en-IN" b="1" dirty="0">
              <a:latin typeface="Palatino Linotype" panose="02040502050505030304" pitchFamily="18" charset="0"/>
            </a:endParaRPr>
          </a:p>
        </p:txBody>
      </p:sp>
    </p:spTree>
    <p:extLst>
      <p:ext uri="{BB962C8B-B14F-4D97-AF65-F5344CB8AC3E}">
        <p14:creationId xmlns:p14="http://schemas.microsoft.com/office/powerpoint/2010/main" val="391214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84B4B9-E0AA-0740-E9AB-7B179DE7DC89}"/>
              </a:ext>
            </a:extLst>
          </p:cNvPr>
          <p:cNvSpPr txBox="1"/>
          <p:nvPr/>
        </p:nvSpPr>
        <p:spPr>
          <a:xfrm>
            <a:off x="1909482" y="215153"/>
            <a:ext cx="7467600" cy="646331"/>
          </a:xfrm>
          <a:prstGeom prst="rect">
            <a:avLst/>
          </a:prstGeom>
          <a:noFill/>
        </p:spPr>
        <p:txBody>
          <a:bodyPr wrap="square" rtlCol="0">
            <a:spAutoFit/>
          </a:bodyPr>
          <a:lstStyle/>
          <a:p>
            <a:r>
              <a:rPr lang="en-IN" sz="3600" b="1" dirty="0">
                <a:latin typeface="Palatino Linotype" panose="02040502050505030304" pitchFamily="18" charset="0"/>
              </a:rPr>
              <a:t>Software / Hardware Specification</a:t>
            </a:r>
            <a:endParaRPr lang="en-IN" b="1" dirty="0">
              <a:latin typeface="Palatino Linotype" panose="02040502050505030304" pitchFamily="18" charset="0"/>
            </a:endParaRPr>
          </a:p>
        </p:txBody>
      </p:sp>
      <p:sp>
        <p:nvSpPr>
          <p:cNvPr id="3" name="TextBox 2">
            <a:extLst>
              <a:ext uri="{FF2B5EF4-FFF2-40B4-BE49-F238E27FC236}">
                <a16:creationId xmlns:a16="http://schemas.microsoft.com/office/drawing/2014/main" id="{712153DC-40CA-B07C-14CA-0721E261F9F2}"/>
              </a:ext>
            </a:extLst>
          </p:cNvPr>
          <p:cNvSpPr txBox="1"/>
          <p:nvPr/>
        </p:nvSpPr>
        <p:spPr>
          <a:xfrm>
            <a:off x="744071" y="1694329"/>
            <a:ext cx="7646893" cy="3693319"/>
          </a:xfrm>
          <a:prstGeom prst="rect">
            <a:avLst/>
          </a:prstGeom>
          <a:noFill/>
        </p:spPr>
        <p:txBody>
          <a:bodyPr wrap="square" rtlCol="0">
            <a:spAutoFit/>
          </a:bodyPr>
          <a:lstStyle/>
          <a:p>
            <a:pPr marL="342900" indent="-342900">
              <a:buFont typeface="Wingdings" panose="05000000000000000000" pitchFamily="2" charset="2"/>
              <a:buChar char="q"/>
            </a:pPr>
            <a:r>
              <a:rPr lang="en-US" sz="2400" b="1" dirty="0">
                <a:latin typeface="Palatino Linotype" panose="02040502050505030304" pitchFamily="18" charset="0"/>
              </a:rPr>
              <a:t>Hardware Requirements: </a:t>
            </a:r>
          </a:p>
          <a:p>
            <a:endParaRPr lang="en-US" sz="2400" b="1" dirty="0">
              <a:latin typeface="Palatino Linotype" panose="02040502050505030304" pitchFamily="18" charset="0"/>
            </a:endParaRPr>
          </a:p>
          <a:p>
            <a:r>
              <a:rPr lang="en-US" sz="2000" b="1" dirty="0">
                <a:latin typeface="Palatino Linotype" panose="02040502050505030304" pitchFamily="18" charset="0"/>
              </a:rPr>
              <a:t>For the server: </a:t>
            </a:r>
          </a:p>
          <a:p>
            <a:pPr marL="342900" indent="-342900">
              <a:buAutoNum type="arabicPeriod"/>
            </a:pPr>
            <a:r>
              <a:rPr lang="en-US" b="1" dirty="0">
                <a:latin typeface="Palatino Linotype" panose="02040502050505030304" pitchFamily="18" charset="0"/>
              </a:rPr>
              <a:t>Processor: Standard processor with a speed of 1.6 GHz or more. </a:t>
            </a:r>
          </a:p>
          <a:p>
            <a:pPr marL="342900" indent="-342900">
              <a:buAutoNum type="arabicPeriod"/>
            </a:pPr>
            <a:r>
              <a:rPr lang="en-US" b="1" dirty="0">
                <a:latin typeface="Palatino Linotype" panose="02040502050505030304" pitchFamily="18" charset="0"/>
              </a:rPr>
              <a:t>RAM: 256 MB RAM or more </a:t>
            </a:r>
          </a:p>
          <a:p>
            <a:pPr marL="342900" indent="-342900">
              <a:buAutoNum type="arabicPeriod"/>
            </a:pPr>
            <a:r>
              <a:rPr lang="en-US" b="1" dirty="0">
                <a:latin typeface="Palatino Linotype" panose="02040502050505030304" pitchFamily="18" charset="0"/>
              </a:rPr>
              <a:t>Hard Disk: 3 GB or more. </a:t>
            </a:r>
          </a:p>
          <a:p>
            <a:endParaRPr lang="en-US" sz="2000" dirty="0">
              <a:latin typeface="Palatino Linotype" panose="02040502050505030304" pitchFamily="18" charset="0"/>
            </a:endParaRPr>
          </a:p>
          <a:p>
            <a:r>
              <a:rPr lang="en-US" sz="2000" b="1" dirty="0">
                <a:latin typeface="Palatino Linotype" panose="02040502050505030304" pitchFamily="18" charset="0"/>
              </a:rPr>
              <a:t>For the Client: </a:t>
            </a:r>
          </a:p>
          <a:p>
            <a:pPr marL="342900" indent="-342900">
              <a:buAutoNum type="arabicPeriod"/>
            </a:pPr>
            <a:r>
              <a:rPr lang="en-US" b="1" dirty="0">
                <a:latin typeface="Palatino Linotype" panose="02040502050505030304" pitchFamily="18" charset="0"/>
              </a:rPr>
              <a:t>Processor: Standard Processor with a speed of 1.6 GHz or more.</a:t>
            </a:r>
          </a:p>
          <a:p>
            <a:pPr marL="342900" indent="-342900">
              <a:buAutoNum type="arabicPeriod"/>
            </a:pPr>
            <a:r>
              <a:rPr lang="en-US" b="1" dirty="0">
                <a:latin typeface="Palatino Linotype" panose="02040502050505030304" pitchFamily="18" charset="0"/>
              </a:rPr>
              <a:t>RAM: 256 MB RAM or more.</a:t>
            </a:r>
          </a:p>
          <a:p>
            <a:pPr marL="342900" indent="-342900">
              <a:buAutoNum type="arabicPeriod"/>
            </a:pPr>
            <a:r>
              <a:rPr lang="en-US" b="1" dirty="0">
                <a:latin typeface="Palatino Linotype" panose="02040502050505030304" pitchFamily="18" charset="0"/>
              </a:rPr>
              <a:t>Hard Disk: 3 GB or more. </a:t>
            </a:r>
          </a:p>
          <a:p>
            <a:endParaRPr lang="en-US" dirty="0">
              <a:latin typeface="Palatino Linotype" panose="02040502050505030304" pitchFamily="18" charset="0"/>
            </a:endParaRPr>
          </a:p>
        </p:txBody>
      </p:sp>
    </p:spTree>
    <p:extLst>
      <p:ext uri="{BB962C8B-B14F-4D97-AF65-F5344CB8AC3E}">
        <p14:creationId xmlns:p14="http://schemas.microsoft.com/office/powerpoint/2010/main" val="3377538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46D12A-B701-A60A-2B9D-697C767B71F7}"/>
              </a:ext>
            </a:extLst>
          </p:cNvPr>
          <p:cNvSpPr txBox="1"/>
          <p:nvPr/>
        </p:nvSpPr>
        <p:spPr>
          <a:xfrm>
            <a:off x="1739153" y="1398495"/>
            <a:ext cx="6329083" cy="3724096"/>
          </a:xfrm>
          <a:prstGeom prst="rect">
            <a:avLst/>
          </a:prstGeom>
          <a:noFill/>
        </p:spPr>
        <p:txBody>
          <a:bodyPr wrap="square" rtlCol="0">
            <a:spAutoFit/>
          </a:bodyPr>
          <a:lstStyle/>
          <a:p>
            <a:pPr marL="342900" indent="-342900">
              <a:buFont typeface="Wingdings" panose="05000000000000000000" pitchFamily="2" charset="2"/>
              <a:buChar char="q"/>
            </a:pPr>
            <a:r>
              <a:rPr lang="en-IN" sz="2400" b="1" dirty="0">
                <a:latin typeface="Palatino Linotype" panose="02040502050505030304" pitchFamily="18" charset="0"/>
              </a:rPr>
              <a:t>Software Requirements: </a:t>
            </a:r>
          </a:p>
          <a:p>
            <a:endParaRPr lang="en-IN" sz="2400" b="1" dirty="0">
              <a:latin typeface="Palatino Linotype" panose="02040502050505030304" pitchFamily="18" charset="0"/>
            </a:endParaRPr>
          </a:p>
          <a:p>
            <a:r>
              <a:rPr lang="en-IN" sz="2000" b="1" dirty="0">
                <a:latin typeface="Palatino Linotype" panose="02040502050505030304" pitchFamily="18" charset="0"/>
              </a:rPr>
              <a:t>For the Server: </a:t>
            </a:r>
          </a:p>
          <a:p>
            <a:pPr marL="342900" indent="-342900">
              <a:buAutoNum type="arabicPeriod"/>
            </a:pPr>
            <a:r>
              <a:rPr lang="en-IN" b="1" dirty="0">
                <a:latin typeface="Palatino Linotype" panose="02040502050505030304" pitchFamily="18" charset="0"/>
              </a:rPr>
              <a:t>Operating System: Linux </a:t>
            </a:r>
          </a:p>
          <a:p>
            <a:pPr marL="342900" indent="-342900">
              <a:buAutoNum type="arabicPeriod"/>
            </a:pPr>
            <a:r>
              <a:rPr lang="en-IN" b="1" dirty="0">
                <a:latin typeface="Palatino Linotype" panose="02040502050505030304" pitchFamily="18" charset="0"/>
              </a:rPr>
              <a:t>Frontend: PHP, CSS</a:t>
            </a:r>
            <a:r>
              <a:rPr lang="en-IN" b="1">
                <a:latin typeface="Palatino Linotype" panose="02040502050505030304" pitchFamily="18" charset="0"/>
              </a:rPr>
              <a:t>, HTML, JavaScript </a:t>
            </a:r>
            <a:endParaRPr lang="en-IN" b="1" dirty="0">
              <a:latin typeface="Palatino Linotype" panose="02040502050505030304" pitchFamily="18" charset="0"/>
            </a:endParaRPr>
          </a:p>
          <a:p>
            <a:pPr marL="342900" indent="-342900">
              <a:buAutoNum type="arabicPeriod"/>
            </a:pPr>
            <a:r>
              <a:rPr lang="en-IN" b="1" dirty="0">
                <a:latin typeface="Palatino Linotype" panose="02040502050505030304" pitchFamily="18" charset="0"/>
              </a:rPr>
              <a:t>Backend: PostgreSQL (Version 8)</a:t>
            </a:r>
          </a:p>
          <a:p>
            <a:pPr marL="342900" indent="-342900">
              <a:buAutoNum type="arabicPeriod"/>
            </a:pPr>
            <a:r>
              <a:rPr lang="en-IN" b="1" dirty="0">
                <a:latin typeface="Palatino Linotype" panose="02040502050505030304" pitchFamily="18" charset="0"/>
              </a:rPr>
              <a:t>Server: Apache Tomcat</a:t>
            </a:r>
          </a:p>
          <a:p>
            <a:endParaRPr lang="en-IN" sz="2000" dirty="0">
              <a:latin typeface="Palatino Linotype" panose="02040502050505030304" pitchFamily="18" charset="0"/>
            </a:endParaRPr>
          </a:p>
          <a:p>
            <a:endParaRPr lang="en-IN" sz="2000" dirty="0">
              <a:latin typeface="Palatino Linotype" panose="02040502050505030304" pitchFamily="18" charset="0"/>
            </a:endParaRPr>
          </a:p>
          <a:p>
            <a:r>
              <a:rPr lang="en-IN" sz="2000" b="1" dirty="0">
                <a:latin typeface="Palatino Linotype" panose="02040502050505030304" pitchFamily="18" charset="0"/>
              </a:rPr>
              <a:t>For the Client: </a:t>
            </a:r>
          </a:p>
          <a:p>
            <a:pPr marL="342900" indent="-342900">
              <a:buAutoNum type="arabicPeriod"/>
            </a:pPr>
            <a:r>
              <a:rPr lang="en-IN" b="1" dirty="0">
                <a:latin typeface="Palatino Linotype" panose="02040502050505030304" pitchFamily="18" charset="0"/>
              </a:rPr>
              <a:t>Operating System: Linux</a:t>
            </a:r>
          </a:p>
          <a:p>
            <a:pPr marL="342900" indent="-342900">
              <a:buAutoNum type="arabicPeriod"/>
            </a:pPr>
            <a:r>
              <a:rPr lang="en-IN" b="1" dirty="0">
                <a:latin typeface="Palatino Linotype" panose="02040502050505030304" pitchFamily="18" charset="0"/>
              </a:rPr>
              <a:t>Browsers: Any </a:t>
            </a:r>
          </a:p>
        </p:txBody>
      </p:sp>
    </p:spTree>
    <p:extLst>
      <p:ext uri="{BB962C8B-B14F-4D97-AF65-F5344CB8AC3E}">
        <p14:creationId xmlns:p14="http://schemas.microsoft.com/office/powerpoint/2010/main" val="2011631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CF7D473-F3E9-A5B2-68EE-90BCB048FCF0}"/>
              </a:ext>
            </a:extLst>
          </p:cNvPr>
          <p:cNvSpPr txBox="1"/>
          <p:nvPr/>
        </p:nvSpPr>
        <p:spPr>
          <a:xfrm>
            <a:off x="2671482" y="251011"/>
            <a:ext cx="5647765" cy="646331"/>
          </a:xfrm>
          <a:prstGeom prst="rect">
            <a:avLst/>
          </a:prstGeom>
          <a:noFill/>
        </p:spPr>
        <p:txBody>
          <a:bodyPr wrap="square" rtlCol="0">
            <a:spAutoFit/>
          </a:bodyPr>
          <a:lstStyle/>
          <a:p>
            <a:pPr algn="ctr"/>
            <a:r>
              <a:rPr lang="en-IN" sz="3600" b="1" dirty="0">
                <a:latin typeface="Palatino Linotype" panose="02040502050505030304" pitchFamily="18" charset="0"/>
              </a:rPr>
              <a:t>Data Dictionary</a:t>
            </a:r>
            <a:endParaRPr lang="en-IN" b="1" dirty="0">
              <a:latin typeface="Palatino Linotype" panose="02040502050505030304" pitchFamily="18" charset="0"/>
            </a:endParaRPr>
          </a:p>
        </p:txBody>
      </p:sp>
      <p:graphicFrame>
        <p:nvGraphicFramePr>
          <p:cNvPr id="3" name="Table 2">
            <a:extLst>
              <a:ext uri="{FF2B5EF4-FFF2-40B4-BE49-F238E27FC236}">
                <a16:creationId xmlns:a16="http://schemas.microsoft.com/office/drawing/2014/main" id="{B33A6C6B-EA1C-873A-043F-CD9B93270537}"/>
              </a:ext>
            </a:extLst>
          </p:cNvPr>
          <p:cNvGraphicFramePr>
            <a:graphicFrameLocks noGrp="1"/>
          </p:cNvGraphicFramePr>
          <p:nvPr>
            <p:extLst>
              <p:ext uri="{D42A27DB-BD31-4B8C-83A1-F6EECF244321}">
                <p14:modId xmlns:p14="http://schemas.microsoft.com/office/powerpoint/2010/main" val="2273297735"/>
              </p:ext>
            </p:extLst>
          </p:nvPr>
        </p:nvGraphicFramePr>
        <p:xfrm>
          <a:off x="2558374" y="1488140"/>
          <a:ext cx="5739824" cy="4634754"/>
        </p:xfrm>
        <a:graphic>
          <a:graphicData uri="http://schemas.openxmlformats.org/drawingml/2006/table">
            <a:tbl>
              <a:tblPr firstRow="1" firstCol="1" bandRow="1">
                <a:tableStyleId>{69012ECD-51FC-41F1-AA8D-1B2483CD663E}</a:tableStyleId>
              </a:tblPr>
              <a:tblGrid>
                <a:gridCol w="763391">
                  <a:extLst>
                    <a:ext uri="{9D8B030D-6E8A-4147-A177-3AD203B41FA5}">
                      <a16:colId xmlns:a16="http://schemas.microsoft.com/office/drawing/2014/main" val="2233912391"/>
                    </a:ext>
                  </a:extLst>
                </a:gridCol>
                <a:gridCol w="1353671">
                  <a:extLst>
                    <a:ext uri="{9D8B030D-6E8A-4147-A177-3AD203B41FA5}">
                      <a16:colId xmlns:a16="http://schemas.microsoft.com/office/drawing/2014/main" val="994548454"/>
                    </a:ext>
                  </a:extLst>
                </a:gridCol>
                <a:gridCol w="3622762">
                  <a:extLst>
                    <a:ext uri="{9D8B030D-6E8A-4147-A177-3AD203B41FA5}">
                      <a16:colId xmlns:a16="http://schemas.microsoft.com/office/drawing/2014/main" val="2014016956"/>
                    </a:ext>
                  </a:extLst>
                </a:gridCol>
              </a:tblGrid>
              <a:tr h="437453">
                <a:tc>
                  <a:txBody>
                    <a:bodyPr/>
                    <a:lstStyle/>
                    <a:p>
                      <a:pPr algn="ctr">
                        <a:lnSpc>
                          <a:spcPct val="107000"/>
                        </a:lnSpc>
                        <a:spcAft>
                          <a:spcPts val="800"/>
                        </a:spcAft>
                      </a:pPr>
                      <a:r>
                        <a:rPr lang="en-IN" sz="1600" kern="100" dirty="0">
                          <a:effectLst/>
                          <a:latin typeface="Palatino Linotype" panose="02040502050505030304" pitchFamily="18" charset="0"/>
                        </a:rPr>
                        <a:t>Sr No.</a:t>
                      </a:r>
                      <a:endParaRPr lang="en-IN" sz="1100" kern="100" dirty="0">
                        <a:effectLst/>
                        <a:latin typeface="Palatino Linotype" panose="02040502050505030304" pitchFamily="18" charset="0"/>
                        <a:ea typeface="Calibri" panose="020F0502020204030204" pitchFamily="34" charset="0"/>
                        <a:cs typeface="Mangal" panose="02040503050203030202" pitchFamily="18" charset="0"/>
                      </a:endParaRPr>
                    </a:p>
                  </a:txBody>
                  <a:tcPr marL="62608" marR="6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IN" sz="1600" kern="100">
                          <a:effectLst/>
                          <a:latin typeface="Palatino Linotype" panose="02040502050505030304" pitchFamily="18" charset="0"/>
                        </a:rPr>
                        <a:t>Table Name</a:t>
                      </a:r>
                      <a:endParaRPr lang="en-IN" sz="1100" kern="100">
                        <a:effectLst/>
                        <a:latin typeface="Palatino Linotype" panose="02040502050505030304" pitchFamily="18" charset="0"/>
                        <a:ea typeface="Calibri" panose="020F0502020204030204" pitchFamily="34" charset="0"/>
                        <a:cs typeface="Mangal" panose="02040503050203030202" pitchFamily="18" charset="0"/>
                      </a:endParaRPr>
                    </a:p>
                  </a:txBody>
                  <a:tcPr marL="62608" marR="6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7000"/>
                        </a:lnSpc>
                        <a:spcAft>
                          <a:spcPts val="800"/>
                        </a:spcAft>
                      </a:pPr>
                      <a:r>
                        <a:rPr lang="en-IN" sz="1600" kern="100" dirty="0">
                          <a:effectLst/>
                          <a:latin typeface="Palatino Linotype" panose="02040502050505030304" pitchFamily="18" charset="0"/>
                        </a:rPr>
                        <a:t>Description</a:t>
                      </a:r>
                      <a:endParaRPr lang="en-IN" sz="1100" kern="100" dirty="0">
                        <a:effectLst/>
                        <a:latin typeface="Palatino Linotype" panose="02040502050505030304" pitchFamily="18" charset="0"/>
                        <a:ea typeface="Calibri" panose="020F0502020204030204" pitchFamily="34" charset="0"/>
                        <a:cs typeface="Mangal" panose="02040503050203030202" pitchFamily="18" charset="0"/>
                      </a:endParaRPr>
                    </a:p>
                  </a:txBody>
                  <a:tcPr marL="62608" marR="6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3391476"/>
                  </a:ext>
                </a:extLst>
              </a:tr>
              <a:tr h="720159">
                <a:tc>
                  <a:txBody>
                    <a:bodyPr/>
                    <a:lstStyle/>
                    <a:p>
                      <a:pPr algn="ctr">
                        <a:lnSpc>
                          <a:spcPct val="107000"/>
                        </a:lnSpc>
                        <a:spcAft>
                          <a:spcPts val="800"/>
                        </a:spcAft>
                      </a:pPr>
                      <a:r>
                        <a:rPr lang="en-IN" sz="1400" b="1" kern="100" dirty="0">
                          <a:effectLst/>
                          <a:latin typeface="Palatino Linotype" panose="02040502050505030304" pitchFamily="18" charset="0"/>
                        </a:rPr>
                        <a:t>1.</a:t>
                      </a:r>
                      <a:endParaRPr lang="en-IN" sz="1100" b="1" kern="100" dirty="0">
                        <a:effectLst/>
                        <a:latin typeface="Palatino Linotype" panose="02040502050505030304" pitchFamily="18" charset="0"/>
                        <a:ea typeface="Calibri" panose="020F0502020204030204" pitchFamily="34" charset="0"/>
                        <a:cs typeface="Mangal" panose="02040503050203030202" pitchFamily="18" charset="0"/>
                      </a:endParaRPr>
                    </a:p>
                  </a:txBody>
                  <a:tcPr marL="62608" marR="6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7000"/>
                        </a:lnSpc>
                        <a:spcAft>
                          <a:spcPts val="800"/>
                        </a:spcAft>
                      </a:pPr>
                      <a:r>
                        <a:rPr lang="en-IN" sz="1400" b="1" kern="100" dirty="0">
                          <a:effectLst/>
                          <a:latin typeface="Palatino Linotype" panose="02040502050505030304" pitchFamily="18" charset="0"/>
                        </a:rPr>
                        <a:t>User Table</a:t>
                      </a:r>
                      <a:endParaRPr lang="en-IN" sz="1100" b="1" kern="100" dirty="0">
                        <a:effectLst/>
                        <a:latin typeface="Palatino Linotype" panose="02040502050505030304" pitchFamily="18" charset="0"/>
                        <a:ea typeface="Calibri" panose="020F0502020204030204" pitchFamily="34" charset="0"/>
                        <a:cs typeface="Mangal" panose="02040503050203030202" pitchFamily="18" charset="0"/>
                      </a:endParaRPr>
                    </a:p>
                  </a:txBody>
                  <a:tcPr marL="62608" marR="6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7000"/>
                        </a:lnSpc>
                        <a:spcAft>
                          <a:spcPts val="800"/>
                        </a:spcAft>
                      </a:pPr>
                      <a:r>
                        <a:rPr lang="en-IN" sz="1400" b="1" kern="100" dirty="0">
                          <a:effectLst/>
                          <a:latin typeface="Palatino Linotype" panose="02040502050505030304" pitchFamily="18" charset="0"/>
                        </a:rPr>
                        <a:t>Student table contains first name, middle name, last name, user name, email, password, age, mobile no., address</a:t>
                      </a:r>
                      <a:endParaRPr lang="en-IN" sz="1100" b="1" kern="100" dirty="0">
                        <a:effectLst/>
                        <a:latin typeface="Palatino Linotype" panose="02040502050505030304" pitchFamily="18" charset="0"/>
                        <a:ea typeface="Calibri" panose="020F0502020204030204" pitchFamily="34" charset="0"/>
                        <a:cs typeface="Mangal" panose="02040503050203030202" pitchFamily="18" charset="0"/>
                      </a:endParaRPr>
                    </a:p>
                  </a:txBody>
                  <a:tcPr marL="62608" marR="6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37688056"/>
                  </a:ext>
                </a:extLst>
              </a:tr>
              <a:tr h="658332">
                <a:tc>
                  <a:txBody>
                    <a:bodyPr/>
                    <a:lstStyle/>
                    <a:p>
                      <a:pPr algn="ctr">
                        <a:lnSpc>
                          <a:spcPct val="107000"/>
                        </a:lnSpc>
                        <a:spcAft>
                          <a:spcPts val="800"/>
                        </a:spcAft>
                      </a:pPr>
                      <a:r>
                        <a:rPr lang="en-IN" sz="1400" b="1" kern="100" dirty="0">
                          <a:effectLst/>
                          <a:latin typeface="Palatino Linotype" panose="02040502050505030304" pitchFamily="18" charset="0"/>
                        </a:rPr>
                        <a:t>2.</a:t>
                      </a:r>
                      <a:endParaRPr lang="en-IN" sz="1100" b="1" kern="100" dirty="0">
                        <a:effectLst/>
                        <a:latin typeface="Palatino Linotype" panose="02040502050505030304" pitchFamily="18" charset="0"/>
                        <a:ea typeface="Calibri" panose="020F0502020204030204" pitchFamily="34" charset="0"/>
                        <a:cs typeface="Mangal" panose="02040503050203030202" pitchFamily="18" charset="0"/>
                      </a:endParaRPr>
                    </a:p>
                  </a:txBody>
                  <a:tcPr marL="62608" marR="6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7000"/>
                        </a:lnSpc>
                        <a:spcAft>
                          <a:spcPts val="800"/>
                        </a:spcAft>
                      </a:pPr>
                      <a:r>
                        <a:rPr lang="en-IN" sz="1400" b="1" kern="100" dirty="0">
                          <a:effectLst/>
                          <a:latin typeface="Palatino Linotype" panose="02040502050505030304" pitchFamily="18" charset="0"/>
                        </a:rPr>
                        <a:t>Test Table</a:t>
                      </a:r>
                      <a:endParaRPr lang="en-IN" sz="1100" b="1" kern="100" dirty="0">
                        <a:effectLst/>
                        <a:latin typeface="Palatino Linotype" panose="02040502050505030304" pitchFamily="18" charset="0"/>
                        <a:ea typeface="Calibri" panose="020F0502020204030204" pitchFamily="34" charset="0"/>
                        <a:cs typeface="Mangal" panose="02040503050203030202" pitchFamily="18" charset="0"/>
                      </a:endParaRPr>
                    </a:p>
                  </a:txBody>
                  <a:tcPr marL="62608" marR="6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7000"/>
                        </a:lnSpc>
                        <a:spcAft>
                          <a:spcPts val="800"/>
                        </a:spcAft>
                      </a:pPr>
                      <a:r>
                        <a:rPr lang="en-IN" sz="1400" b="1" kern="100" dirty="0">
                          <a:effectLst/>
                          <a:latin typeface="Palatino Linotype" panose="02040502050505030304" pitchFamily="18" charset="0"/>
                        </a:rPr>
                        <a:t>Test table contains test id, subject id, test name, total no of questions.</a:t>
                      </a:r>
                      <a:endParaRPr lang="en-IN" sz="1100" b="1" kern="100" dirty="0">
                        <a:effectLst/>
                        <a:latin typeface="Palatino Linotype" panose="02040502050505030304" pitchFamily="18" charset="0"/>
                        <a:ea typeface="Calibri" panose="020F0502020204030204" pitchFamily="34" charset="0"/>
                        <a:cs typeface="Mangal" panose="02040503050203030202" pitchFamily="18" charset="0"/>
                      </a:endParaRPr>
                    </a:p>
                  </a:txBody>
                  <a:tcPr marL="62608" marR="6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6962180"/>
                  </a:ext>
                </a:extLst>
              </a:tr>
              <a:tr h="658332">
                <a:tc>
                  <a:txBody>
                    <a:bodyPr/>
                    <a:lstStyle/>
                    <a:p>
                      <a:pPr algn="ctr">
                        <a:lnSpc>
                          <a:spcPct val="107000"/>
                        </a:lnSpc>
                        <a:spcAft>
                          <a:spcPts val="800"/>
                        </a:spcAft>
                      </a:pPr>
                      <a:r>
                        <a:rPr lang="en-IN" sz="1400" b="1" kern="100" dirty="0">
                          <a:effectLst/>
                          <a:latin typeface="Palatino Linotype" panose="02040502050505030304" pitchFamily="18" charset="0"/>
                        </a:rPr>
                        <a:t>3.</a:t>
                      </a:r>
                      <a:endParaRPr lang="en-IN" sz="1100" b="1" kern="100" dirty="0">
                        <a:effectLst/>
                        <a:latin typeface="Palatino Linotype" panose="02040502050505030304" pitchFamily="18" charset="0"/>
                        <a:ea typeface="Calibri" panose="020F0502020204030204" pitchFamily="34" charset="0"/>
                        <a:cs typeface="Mangal" panose="02040503050203030202" pitchFamily="18" charset="0"/>
                      </a:endParaRPr>
                    </a:p>
                  </a:txBody>
                  <a:tcPr marL="62608" marR="6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7000"/>
                        </a:lnSpc>
                        <a:spcAft>
                          <a:spcPts val="800"/>
                        </a:spcAft>
                      </a:pPr>
                      <a:r>
                        <a:rPr lang="en-IN" sz="1400" b="1" kern="100" dirty="0">
                          <a:effectLst/>
                          <a:latin typeface="Palatino Linotype" panose="02040502050505030304" pitchFamily="18" charset="0"/>
                        </a:rPr>
                        <a:t>Subject Table</a:t>
                      </a:r>
                      <a:endParaRPr lang="en-IN" sz="1100" b="1" kern="100" dirty="0">
                        <a:effectLst/>
                        <a:latin typeface="Palatino Linotype" panose="02040502050505030304" pitchFamily="18" charset="0"/>
                        <a:ea typeface="Calibri" panose="020F0502020204030204" pitchFamily="34" charset="0"/>
                        <a:cs typeface="Mangal" panose="02040503050203030202" pitchFamily="18" charset="0"/>
                      </a:endParaRPr>
                    </a:p>
                  </a:txBody>
                  <a:tcPr marL="62608" marR="6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7000"/>
                        </a:lnSpc>
                        <a:spcAft>
                          <a:spcPts val="800"/>
                        </a:spcAft>
                      </a:pPr>
                      <a:r>
                        <a:rPr lang="en-IN" sz="1400" b="1" kern="100" dirty="0">
                          <a:effectLst/>
                          <a:latin typeface="Palatino Linotype" panose="02040502050505030304" pitchFamily="18" charset="0"/>
                        </a:rPr>
                        <a:t>Subject Table contains subject id and subject name.</a:t>
                      </a:r>
                      <a:endParaRPr lang="en-IN" sz="1100" b="1" kern="100" dirty="0">
                        <a:effectLst/>
                        <a:latin typeface="Palatino Linotype" panose="02040502050505030304" pitchFamily="18" charset="0"/>
                        <a:ea typeface="Calibri" panose="020F0502020204030204" pitchFamily="34" charset="0"/>
                        <a:cs typeface="Mangal" panose="02040503050203030202" pitchFamily="18" charset="0"/>
                      </a:endParaRPr>
                    </a:p>
                  </a:txBody>
                  <a:tcPr marL="62608" marR="6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5041213"/>
                  </a:ext>
                </a:extLst>
              </a:tr>
              <a:tr h="720159">
                <a:tc>
                  <a:txBody>
                    <a:bodyPr/>
                    <a:lstStyle/>
                    <a:p>
                      <a:pPr algn="ctr">
                        <a:lnSpc>
                          <a:spcPct val="107000"/>
                        </a:lnSpc>
                        <a:spcAft>
                          <a:spcPts val="800"/>
                        </a:spcAft>
                      </a:pPr>
                      <a:r>
                        <a:rPr lang="en-IN" sz="1400" b="1" kern="100" dirty="0">
                          <a:effectLst/>
                          <a:latin typeface="Palatino Linotype" panose="02040502050505030304" pitchFamily="18" charset="0"/>
                        </a:rPr>
                        <a:t>4.</a:t>
                      </a:r>
                      <a:endParaRPr lang="en-IN" sz="1100" b="1" kern="100" dirty="0">
                        <a:effectLst/>
                        <a:latin typeface="Palatino Linotype" panose="02040502050505030304" pitchFamily="18" charset="0"/>
                        <a:ea typeface="Calibri" panose="020F0502020204030204" pitchFamily="34" charset="0"/>
                        <a:cs typeface="Mangal" panose="02040503050203030202" pitchFamily="18" charset="0"/>
                      </a:endParaRPr>
                    </a:p>
                  </a:txBody>
                  <a:tcPr marL="62608" marR="6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7000"/>
                        </a:lnSpc>
                        <a:spcAft>
                          <a:spcPts val="800"/>
                        </a:spcAft>
                      </a:pPr>
                      <a:r>
                        <a:rPr lang="en-IN" sz="1400" b="1" kern="100" dirty="0">
                          <a:effectLst/>
                          <a:latin typeface="Palatino Linotype" panose="02040502050505030304" pitchFamily="18" charset="0"/>
                        </a:rPr>
                        <a:t>Question Table</a:t>
                      </a:r>
                      <a:endParaRPr lang="en-IN" sz="1100" b="1" kern="100" dirty="0">
                        <a:effectLst/>
                        <a:latin typeface="Palatino Linotype" panose="02040502050505030304" pitchFamily="18" charset="0"/>
                        <a:ea typeface="Calibri" panose="020F0502020204030204" pitchFamily="34" charset="0"/>
                        <a:cs typeface="Mangal" panose="02040503050203030202" pitchFamily="18" charset="0"/>
                      </a:endParaRPr>
                    </a:p>
                  </a:txBody>
                  <a:tcPr marL="62608" marR="6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7000"/>
                        </a:lnSpc>
                        <a:spcAft>
                          <a:spcPts val="800"/>
                        </a:spcAft>
                      </a:pPr>
                      <a:r>
                        <a:rPr lang="en-IN" sz="1400" b="1" kern="100" dirty="0">
                          <a:effectLst/>
                          <a:latin typeface="Palatino Linotype" panose="02040502050505030304" pitchFamily="18" charset="0"/>
                        </a:rPr>
                        <a:t>Question Table contains question id, test id, question description, option1, option2, option3, option4, true option.</a:t>
                      </a:r>
                      <a:endParaRPr lang="en-IN" sz="1100" b="1" kern="100" dirty="0">
                        <a:effectLst/>
                        <a:latin typeface="Palatino Linotype" panose="02040502050505030304" pitchFamily="18" charset="0"/>
                        <a:ea typeface="Calibri" panose="020F0502020204030204" pitchFamily="34" charset="0"/>
                        <a:cs typeface="Mangal" panose="02040503050203030202" pitchFamily="18" charset="0"/>
                      </a:endParaRPr>
                    </a:p>
                  </a:txBody>
                  <a:tcPr marL="62608" marR="6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8492517"/>
                  </a:ext>
                </a:extLst>
              </a:tr>
              <a:tr h="963667">
                <a:tc>
                  <a:txBody>
                    <a:bodyPr/>
                    <a:lstStyle/>
                    <a:p>
                      <a:pPr algn="ctr">
                        <a:lnSpc>
                          <a:spcPct val="107000"/>
                        </a:lnSpc>
                        <a:spcAft>
                          <a:spcPts val="800"/>
                        </a:spcAft>
                      </a:pPr>
                      <a:r>
                        <a:rPr lang="en-IN" sz="1400" b="1" kern="100" dirty="0">
                          <a:effectLst/>
                          <a:latin typeface="Palatino Linotype" panose="02040502050505030304" pitchFamily="18" charset="0"/>
                        </a:rPr>
                        <a:t>5.</a:t>
                      </a:r>
                      <a:endParaRPr lang="en-IN" sz="1100" b="1" kern="100" dirty="0">
                        <a:effectLst/>
                        <a:latin typeface="Palatino Linotype" panose="02040502050505030304" pitchFamily="18" charset="0"/>
                        <a:ea typeface="Calibri" panose="020F0502020204030204" pitchFamily="34" charset="0"/>
                        <a:cs typeface="Mangal" panose="02040503050203030202" pitchFamily="18" charset="0"/>
                      </a:endParaRPr>
                    </a:p>
                  </a:txBody>
                  <a:tcPr marL="62608" marR="6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7000"/>
                        </a:lnSpc>
                        <a:spcAft>
                          <a:spcPts val="800"/>
                        </a:spcAft>
                      </a:pPr>
                      <a:r>
                        <a:rPr lang="en-IN" sz="1400" b="1" kern="100" dirty="0">
                          <a:effectLst/>
                          <a:latin typeface="Palatino Linotype" panose="02040502050505030304" pitchFamily="18" charset="0"/>
                        </a:rPr>
                        <a:t>User Answer Table</a:t>
                      </a:r>
                      <a:endParaRPr lang="en-IN" sz="1100" b="1" kern="100" dirty="0">
                        <a:effectLst/>
                        <a:latin typeface="Palatino Linotype" panose="02040502050505030304" pitchFamily="18" charset="0"/>
                        <a:ea typeface="Calibri" panose="020F0502020204030204" pitchFamily="34" charset="0"/>
                        <a:cs typeface="Mangal" panose="02040503050203030202" pitchFamily="18" charset="0"/>
                      </a:endParaRPr>
                    </a:p>
                  </a:txBody>
                  <a:tcPr marL="62608" marR="6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7000"/>
                        </a:lnSpc>
                        <a:spcAft>
                          <a:spcPts val="800"/>
                        </a:spcAft>
                      </a:pPr>
                      <a:r>
                        <a:rPr lang="en-IN" sz="1400" b="1" kern="100" dirty="0">
                          <a:effectLst/>
                          <a:latin typeface="Palatino Linotype" panose="02040502050505030304" pitchFamily="18" charset="0"/>
                        </a:rPr>
                        <a:t>User answer table contains session id, test id, question description, option1, option2, option3, option4, true answer, and your answer.</a:t>
                      </a:r>
                      <a:endParaRPr lang="en-IN" sz="1100" b="1" kern="100" dirty="0">
                        <a:effectLst/>
                        <a:latin typeface="Palatino Linotype" panose="02040502050505030304" pitchFamily="18" charset="0"/>
                        <a:ea typeface="Calibri" panose="020F0502020204030204" pitchFamily="34" charset="0"/>
                        <a:cs typeface="Mangal" panose="02040503050203030202" pitchFamily="18" charset="0"/>
                      </a:endParaRPr>
                    </a:p>
                  </a:txBody>
                  <a:tcPr marL="62608" marR="6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17087862"/>
                  </a:ext>
                </a:extLst>
              </a:tr>
              <a:tr h="476652">
                <a:tc>
                  <a:txBody>
                    <a:bodyPr/>
                    <a:lstStyle/>
                    <a:p>
                      <a:pPr algn="ctr">
                        <a:lnSpc>
                          <a:spcPct val="107000"/>
                        </a:lnSpc>
                        <a:spcAft>
                          <a:spcPts val="800"/>
                        </a:spcAft>
                      </a:pPr>
                      <a:r>
                        <a:rPr lang="en-IN" sz="1400" b="1" kern="100" dirty="0">
                          <a:effectLst/>
                          <a:latin typeface="Palatino Linotype" panose="02040502050505030304" pitchFamily="18" charset="0"/>
                        </a:rPr>
                        <a:t>6.</a:t>
                      </a:r>
                      <a:endParaRPr lang="en-IN" sz="1100" b="1" kern="100" dirty="0">
                        <a:effectLst/>
                        <a:latin typeface="Palatino Linotype" panose="02040502050505030304" pitchFamily="18" charset="0"/>
                        <a:ea typeface="Calibri" panose="020F0502020204030204" pitchFamily="34" charset="0"/>
                        <a:cs typeface="Mangal" panose="02040503050203030202" pitchFamily="18" charset="0"/>
                      </a:endParaRPr>
                    </a:p>
                  </a:txBody>
                  <a:tcPr marL="62608" marR="6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7000"/>
                        </a:lnSpc>
                        <a:spcAft>
                          <a:spcPts val="800"/>
                        </a:spcAft>
                      </a:pPr>
                      <a:r>
                        <a:rPr lang="en-IN" sz="1400" b="1" kern="100" dirty="0">
                          <a:effectLst/>
                          <a:latin typeface="Palatino Linotype" panose="02040502050505030304" pitchFamily="18" charset="0"/>
                        </a:rPr>
                        <a:t>Result Table</a:t>
                      </a:r>
                      <a:endParaRPr lang="en-IN" sz="1100" b="1" kern="100" dirty="0">
                        <a:effectLst/>
                        <a:latin typeface="Palatino Linotype" panose="02040502050505030304" pitchFamily="18" charset="0"/>
                        <a:ea typeface="Calibri" panose="020F0502020204030204" pitchFamily="34" charset="0"/>
                        <a:cs typeface="Mangal" panose="02040503050203030202" pitchFamily="18" charset="0"/>
                      </a:endParaRPr>
                    </a:p>
                  </a:txBody>
                  <a:tcPr marL="62608" marR="6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07000"/>
                        </a:lnSpc>
                        <a:spcAft>
                          <a:spcPts val="800"/>
                        </a:spcAft>
                      </a:pPr>
                      <a:r>
                        <a:rPr lang="en-IN" sz="1400" b="1" kern="100" dirty="0">
                          <a:effectLst/>
                          <a:latin typeface="Palatino Linotype" panose="02040502050505030304" pitchFamily="18" charset="0"/>
                        </a:rPr>
                        <a:t>Result Table contains login, test id, test date, and score</a:t>
                      </a:r>
                      <a:endParaRPr lang="en-IN" sz="1100" b="1" kern="100" dirty="0">
                        <a:effectLst/>
                        <a:latin typeface="Palatino Linotype" panose="02040502050505030304" pitchFamily="18" charset="0"/>
                        <a:ea typeface="Calibri" panose="020F0502020204030204" pitchFamily="34" charset="0"/>
                        <a:cs typeface="Mangal" panose="02040503050203030202" pitchFamily="18" charset="0"/>
                      </a:endParaRPr>
                    </a:p>
                  </a:txBody>
                  <a:tcPr marL="62608" marR="6260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088425"/>
                  </a:ext>
                </a:extLst>
              </a:tr>
            </a:tbl>
          </a:graphicData>
        </a:graphic>
      </p:graphicFrame>
    </p:spTree>
    <p:extLst>
      <p:ext uri="{BB962C8B-B14F-4D97-AF65-F5344CB8AC3E}">
        <p14:creationId xmlns:p14="http://schemas.microsoft.com/office/powerpoint/2010/main" val="1857610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1A493B-DC13-022E-2BC2-778D0D3DED51}"/>
              </a:ext>
            </a:extLst>
          </p:cNvPr>
          <p:cNvSpPr txBox="1"/>
          <p:nvPr/>
        </p:nvSpPr>
        <p:spPr>
          <a:xfrm>
            <a:off x="2814917" y="134470"/>
            <a:ext cx="5531223" cy="646331"/>
          </a:xfrm>
          <a:prstGeom prst="rect">
            <a:avLst/>
          </a:prstGeom>
          <a:noFill/>
        </p:spPr>
        <p:txBody>
          <a:bodyPr wrap="square" rtlCol="0">
            <a:spAutoFit/>
          </a:bodyPr>
          <a:lstStyle/>
          <a:p>
            <a:pPr algn="ctr"/>
            <a:r>
              <a:rPr lang="en-IN" sz="3600" b="1" dirty="0">
                <a:latin typeface="Palatino Linotype" panose="02040502050505030304" pitchFamily="18" charset="0"/>
              </a:rPr>
              <a:t>System Diagram</a:t>
            </a:r>
            <a:endParaRPr lang="en-IN" b="1" dirty="0">
              <a:latin typeface="Palatino Linotype" panose="02040502050505030304" pitchFamily="18" charset="0"/>
            </a:endParaRPr>
          </a:p>
        </p:txBody>
      </p:sp>
      <p:sp>
        <p:nvSpPr>
          <p:cNvPr id="3" name="TextBox 2">
            <a:extLst>
              <a:ext uri="{FF2B5EF4-FFF2-40B4-BE49-F238E27FC236}">
                <a16:creationId xmlns:a16="http://schemas.microsoft.com/office/drawing/2014/main" id="{559CFA26-A0C6-C677-E874-3C2F80F3890C}"/>
              </a:ext>
            </a:extLst>
          </p:cNvPr>
          <p:cNvSpPr txBox="1"/>
          <p:nvPr/>
        </p:nvSpPr>
        <p:spPr>
          <a:xfrm>
            <a:off x="116540" y="1001651"/>
            <a:ext cx="2698377" cy="400110"/>
          </a:xfrm>
          <a:prstGeom prst="rect">
            <a:avLst/>
          </a:prstGeom>
          <a:noFill/>
        </p:spPr>
        <p:txBody>
          <a:bodyPr wrap="square" rtlCol="0">
            <a:spAutoFit/>
          </a:bodyPr>
          <a:lstStyle/>
          <a:p>
            <a:pPr marL="342900" indent="-342900">
              <a:buFont typeface="Wingdings" panose="05000000000000000000" pitchFamily="2" charset="2"/>
              <a:buChar char="q"/>
            </a:pPr>
            <a:r>
              <a:rPr lang="en-IN" sz="2000" b="1" dirty="0">
                <a:latin typeface="Palatino Linotype" panose="02040502050505030304" pitchFamily="18" charset="0"/>
              </a:rPr>
              <a:t>ER Diagram :</a:t>
            </a:r>
            <a:endParaRPr lang="en-IN" b="1" dirty="0">
              <a:latin typeface="Palatino Linotype" panose="02040502050505030304" pitchFamily="18" charset="0"/>
            </a:endParaRPr>
          </a:p>
        </p:txBody>
      </p:sp>
      <p:pic>
        <p:nvPicPr>
          <p:cNvPr id="31" name="Picture 30">
            <a:extLst>
              <a:ext uri="{FF2B5EF4-FFF2-40B4-BE49-F238E27FC236}">
                <a16:creationId xmlns:a16="http://schemas.microsoft.com/office/drawing/2014/main" id="{D2D0A287-1D3B-5AFE-4322-EFD55800CB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0438" y="1321079"/>
            <a:ext cx="6821618" cy="5321770"/>
          </a:xfrm>
          <a:prstGeom prst="rect">
            <a:avLst/>
          </a:prstGeom>
        </p:spPr>
      </p:pic>
    </p:spTree>
    <p:extLst>
      <p:ext uri="{BB962C8B-B14F-4D97-AF65-F5344CB8AC3E}">
        <p14:creationId xmlns:p14="http://schemas.microsoft.com/office/powerpoint/2010/main" val="3246470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94BD4C7-C712-3FD5-9DCC-3949346727FD}"/>
              </a:ext>
            </a:extLst>
          </p:cNvPr>
          <p:cNvSpPr txBox="1"/>
          <p:nvPr/>
        </p:nvSpPr>
        <p:spPr>
          <a:xfrm>
            <a:off x="251012" y="188258"/>
            <a:ext cx="3155577" cy="400110"/>
          </a:xfrm>
          <a:prstGeom prst="rect">
            <a:avLst/>
          </a:prstGeom>
          <a:noFill/>
        </p:spPr>
        <p:txBody>
          <a:bodyPr wrap="square" rtlCol="0">
            <a:spAutoFit/>
          </a:bodyPr>
          <a:lstStyle/>
          <a:p>
            <a:pPr marL="342900" indent="-342900">
              <a:buFont typeface="Wingdings" panose="05000000000000000000" pitchFamily="2" charset="2"/>
              <a:buChar char="q"/>
            </a:pPr>
            <a:r>
              <a:rPr lang="en-IN" sz="2000" b="1" dirty="0">
                <a:latin typeface="Palatino Linotype" panose="02040502050505030304" pitchFamily="18" charset="0"/>
              </a:rPr>
              <a:t>Class Diagram :</a:t>
            </a:r>
            <a:endParaRPr lang="en-IN" b="1" dirty="0">
              <a:latin typeface="Palatino Linotype" panose="02040502050505030304" pitchFamily="18" charset="0"/>
            </a:endParaRPr>
          </a:p>
        </p:txBody>
      </p:sp>
      <p:pic>
        <p:nvPicPr>
          <p:cNvPr id="125" name="Picture 124">
            <a:extLst>
              <a:ext uri="{FF2B5EF4-FFF2-40B4-BE49-F238E27FC236}">
                <a16:creationId xmlns:a16="http://schemas.microsoft.com/office/drawing/2014/main" id="{B5F807A4-6428-764B-11B2-D2186CD70D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2918" y="588368"/>
            <a:ext cx="6333691" cy="6269632"/>
          </a:xfrm>
          <a:prstGeom prst="rect">
            <a:avLst/>
          </a:prstGeom>
        </p:spPr>
      </p:pic>
    </p:spTree>
    <p:extLst>
      <p:ext uri="{BB962C8B-B14F-4D97-AF65-F5344CB8AC3E}">
        <p14:creationId xmlns:p14="http://schemas.microsoft.com/office/powerpoint/2010/main" val="786680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C113E5-A9C5-6CD7-004F-8140618269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6659" y="669050"/>
            <a:ext cx="6398687" cy="6056059"/>
          </a:xfrm>
          <a:prstGeom prst="rect">
            <a:avLst/>
          </a:prstGeom>
        </p:spPr>
      </p:pic>
      <p:sp>
        <p:nvSpPr>
          <p:cNvPr id="4" name="TextBox 3">
            <a:extLst>
              <a:ext uri="{FF2B5EF4-FFF2-40B4-BE49-F238E27FC236}">
                <a16:creationId xmlns:a16="http://schemas.microsoft.com/office/drawing/2014/main" id="{75D80585-1FA4-38E0-CC73-E92C803E4B94}"/>
              </a:ext>
            </a:extLst>
          </p:cNvPr>
          <p:cNvSpPr txBox="1"/>
          <p:nvPr/>
        </p:nvSpPr>
        <p:spPr>
          <a:xfrm>
            <a:off x="295835" y="268941"/>
            <a:ext cx="3944471" cy="400110"/>
          </a:xfrm>
          <a:prstGeom prst="rect">
            <a:avLst/>
          </a:prstGeom>
          <a:noFill/>
        </p:spPr>
        <p:txBody>
          <a:bodyPr wrap="square" rtlCol="0">
            <a:spAutoFit/>
          </a:bodyPr>
          <a:lstStyle/>
          <a:p>
            <a:pPr marL="285750" indent="-285750">
              <a:buFont typeface="Wingdings" panose="05000000000000000000" pitchFamily="2" charset="2"/>
              <a:buChar char="q"/>
            </a:pPr>
            <a:r>
              <a:rPr lang="en-IN" sz="2000" b="1" dirty="0">
                <a:latin typeface="Palatino Linotype" panose="02040502050505030304" pitchFamily="18" charset="0"/>
              </a:rPr>
              <a:t>Use Case Diagram :</a:t>
            </a:r>
          </a:p>
        </p:txBody>
      </p:sp>
    </p:spTree>
    <p:extLst>
      <p:ext uri="{BB962C8B-B14F-4D97-AF65-F5344CB8AC3E}">
        <p14:creationId xmlns:p14="http://schemas.microsoft.com/office/powerpoint/2010/main" val="3133292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CDE1820-7D32-BFE3-DD23-6D0A9468AA44}"/>
              </a:ext>
            </a:extLst>
          </p:cNvPr>
          <p:cNvSpPr txBox="1"/>
          <p:nvPr/>
        </p:nvSpPr>
        <p:spPr>
          <a:xfrm>
            <a:off x="188259" y="259976"/>
            <a:ext cx="2662517" cy="400110"/>
          </a:xfrm>
          <a:prstGeom prst="rect">
            <a:avLst/>
          </a:prstGeom>
          <a:noFill/>
        </p:spPr>
        <p:txBody>
          <a:bodyPr wrap="square" rtlCol="0">
            <a:spAutoFit/>
          </a:bodyPr>
          <a:lstStyle/>
          <a:p>
            <a:pPr marL="342900" indent="-342900">
              <a:buFont typeface="Wingdings" panose="05000000000000000000" pitchFamily="2" charset="2"/>
              <a:buChar char="q"/>
            </a:pPr>
            <a:r>
              <a:rPr lang="en-IN" sz="2000" b="1" dirty="0">
                <a:latin typeface="Palatino Linotype" panose="02040502050505030304" pitchFamily="18" charset="0"/>
              </a:rPr>
              <a:t>Activity Diagram :</a:t>
            </a:r>
            <a:endParaRPr lang="en-IN" b="1" dirty="0">
              <a:latin typeface="Palatino Linotype" panose="02040502050505030304" pitchFamily="18" charset="0"/>
            </a:endParaRPr>
          </a:p>
        </p:txBody>
      </p:sp>
      <p:pic>
        <p:nvPicPr>
          <p:cNvPr id="4" name="Picture 3">
            <a:extLst>
              <a:ext uri="{FF2B5EF4-FFF2-40B4-BE49-F238E27FC236}">
                <a16:creationId xmlns:a16="http://schemas.microsoft.com/office/drawing/2014/main" id="{AFFC2803-856E-28F0-32E2-91B82BEB46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28047" y="660086"/>
            <a:ext cx="6342945" cy="6197914"/>
          </a:xfrm>
          <a:prstGeom prst="rect">
            <a:avLst/>
          </a:prstGeom>
        </p:spPr>
      </p:pic>
    </p:spTree>
    <p:extLst>
      <p:ext uri="{BB962C8B-B14F-4D97-AF65-F5344CB8AC3E}">
        <p14:creationId xmlns:p14="http://schemas.microsoft.com/office/powerpoint/2010/main" val="1429130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5291FF-96F0-7BD4-D4C2-A120DB720FFB}"/>
              </a:ext>
            </a:extLst>
          </p:cNvPr>
          <p:cNvSpPr txBox="1"/>
          <p:nvPr/>
        </p:nvSpPr>
        <p:spPr>
          <a:xfrm>
            <a:off x="394447" y="367553"/>
            <a:ext cx="2931459" cy="400110"/>
          </a:xfrm>
          <a:prstGeom prst="rect">
            <a:avLst/>
          </a:prstGeom>
          <a:noFill/>
        </p:spPr>
        <p:txBody>
          <a:bodyPr wrap="square" rtlCol="0">
            <a:spAutoFit/>
          </a:bodyPr>
          <a:lstStyle/>
          <a:p>
            <a:pPr marL="342900" indent="-342900">
              <a:buFont typeface="Wingdings" panose="05000000000000000000" pitchFamily="2" charset="2"/>
              <a:buChar char="q"/>
            </a:pPr>
            <a:r>
              <a:rPr lang="en-IN" sz="2000" b="1" dirty="0">
                <a:latin typeface="Palatino Linotype" panose="02040502050505030304" pitchFamily="18" charset="0"/>
              </a:rPr>
              <a:t>Sequence Diagram :</a:t>
            </a:r>
            <a:endParaRPr lang="en-IN" b="1" dirty="0">
              <a:latin typeface="Palatino Linotype" panose="02040502050505030304" pitchFamily="18" charset="0"/>
            </a:endParaRPr>
          </a:p>
        </p:txBody>
      </p:sp>
      <p:pic>
        <p:nvPicPr>
          <p:cNvPr id="4" name="Picture 3">
            <a:extLst>
              <a:ext uri="{FF2B5EF4-FFF2-40B4-BE49-F238E27FC236}">
                <a16:creationId xmlns:a16="http://schemas.microsoft.com/office/drawing/2014/main" id="{F40C3AE2-A27F-639B-8C57-5C7C4AE084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0565" y="767662"/>
            <a:ext cx="7566211" cy="5981263"/>
          </a:xfrm>
          <a:prstGeom prst="rect">
            <a:avLst/>
          </a:prstGeom>
        </p:spPr>
      </p:pic>
    </p:spTree>
    <p:extLst>
      <p:ext uri="{BB962C8B-B14F-4D97-AF65-F5344CB8AC3E}">
        <p14:creationId xmlns:p14="http://schemas.microsoft.com/office/powerpoint/2010/main" val="1189555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C6A9C4-303F-E63A-583D-E4942A2ADE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2697" y="143434"/>
            <a:ext cx="7102605" cy="6391835"/>
          </a:xfrm>
          <a:prstGeom prst="rect">
            <a:avLst/>
          </a:prstGeom>
        </p:spPr>
      </p:pic>
    </p:spTree>
    <p:extLst>
      <p:ext uri="{BB962C8B-B14F-4D97-AF65-F5344CB8AC3E}">
        <p14:creationId xmlns:p14="http://schemas.microsoft.com/office/powerpoint/2010/main" val="3453983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9E344A-7C53-4DC6-E4BC-9467F37168CB}"/>
              </a:ext>
            </a:extLst>
          </p:cNvPr>
          <p:cNvSpPr txBox="1"/>
          <p:nvPr/>
        </p:nvSpPr>
        <p:spPr>
          <a:xfrm>
            <a:off x="3056964" y="242047"/>
            <a:ext cx="7135906" cy="646331"/>
          </a:xfrm>
          <a:prstGeom prst="rect">
            <a:avLst/>
          </a:prstGeom>
          <a:noFill/>
        </p:spPr>
        <p:txBody>
          <a:bodyPr wrap="square" rtlCol="0">
            <a:spAutoFit/>
          </a:bodyPr>
          <a:lstStyle/>
          <a:p>
            <a:r>
              <a:rPr lang="en-IN" sz="3600" b="1" dirty="0">
                <a:latin typeface="Palatino Linotype" panose="02040502050505030304" pitchFamily="18" charset="0"/>
              </a:rPr>
              <a:t>Implementation System</a:t>
            </a:r>
            <a:endParaRPr lang="en-IN" b="1" dirty="0">
              <a:latin typeface="Palatino Linotype" panose="02040502050505030304" pitchFamily="18" charset="0"/>
            </a:endParaRPr>
          </a:p>
        </p:txBody>
      </p:sp>
      <p:pic>
        <p:nvPicPr>
          <p:cNvPr id="4" name="Picture 3">
            <a:extLst>
              <a:ext uri="{FF2B5EF4-FFF2-40B4-BE49-F238E27FC236}">
                <a16:creationId xmlns:a16="http://schemas.microsoft.com/office/drawing/2014/main" id="{525207C8-6480-ECCB-D8B2-2610B57F92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1023" y="1055508"/>
            <a:ext cx="8583223" cy="5249008"/>
          </a:xfrm>
          <a:prstGeom prst="rect">
            <a:avLst/>
          </a:prstGeom>
        </p:spPr>
      </p:pic>
    </p:spTree>
    <p:extLst>
      <p:ext uri="{BB962C8B-B14F-4D97-AF65-F5344CB8AC3E}">
        <p14:creationId xmlns:p14="http://schemas.microsoft.com/office/powerpoint/2010/main" val="3682608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5079D11-3A8E-F14C-1FE2-92ABD5917F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9036" y="728328"/>
            <a:ext cx="8440328" cy="4791744"/>
          </a:xfrm>
          <a:prstGeom prst="rect">
            <a:avLst/>
          </a:prstGeom>
        </p:spPr>
      </p:pic>
    </p:spTree>
    <p:extLst>
      <p:ext uri="{BB962C8B-B14F-4D97-AF65-F5344CB8AC3E}">
        <p14:creationId xmlns:p14="http://schemas.microsoft.com/office/powerpoint/2010/main" val="3215899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FD6E5D-718A-1A70-D77D-0D263F76E7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6248" y="734506"/>
            <a:ext cx="8230749" cy="4582164"/>
          </a:xfrm>
          <a:prstGeom prst="rect">
            <a:avLst/>
          </a:prstGeom>
        </p:spPr>
      </p:pic>
    </p:spTree>
    <p:extLst>
      <p:ext uri="{BB962C8B-B14F-4D97-AF65-F5344CB8AC3E}">
        <p14:creationId xmlns:p14="http://schemas.microsoft.com/office/powerpoint/2010/main" val="668556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2527F9B-FC1E-139A-107F-5C504E00C2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5512" y="684897"/>
            <a:ext cx="8326012" cy="4896533"/>
          </a:xfrm>
          <a:prstGeom prst="rect">
            <a:avLst/>
          </a:prstGeom>
        </p:spPr>
      </p:pic>
    </p:spTree>
    <p:extLst>
      <p:ext uri="{BB962C8B-B14F-4D97-AF65-F5344CB8AC3E}">
        <p14:creationId xmlns:p14="http://schemas.microsoft.com/office/powerpoint/2010/main" val="4249134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3EE3CA-BBAD-DE46-4409-85913AB6998F}"/>
              </a:ext>
            </a:extLst>
          </p:cNvPr>
          <p:cNvSpPr txBox="1"/>
          <p:nvPr/>
        </p:nvSpPr>
        <p:spPr>
          <a:xfrm>
            <a:off x="3863789" y="415480"/>
            <a:ext cx="3863788" cy="646331"/>
          </a:xfrm>
          <a:prstGeom prst="rect">
            <a:avLst/>
          </a:prstGeom>
          <a:noFill/>
        </p:spPr>
        <p:txBody>
          <a:bodyPr wrap="square" rtlCol="0">
            <a:spAutoFit/>
          </a:bodyPr>
          <a:lstStyle/>
          <a:p>
            <a:r>
              <a:rPr lang="en-IN" sz="3600" b="1" dirty="0">
                <a:latin typeface="Palatino Linotype" panose="02040502050505030304" pitchFamily="18" charset="0"/>
              </a:rPr>
              <a:t>System Testing</a:t>
            </a:r>
            <a:endParaRPr lang="en-IN" b="1" dirty="0">
              <a:latin typeface="Palatino Linotype" panose="02040502050505030304" pitchFamily="18" charset="0"/>
            </a:endParaRPr>
          </a:p>
        </p:txBody>
      </p:sp>
      <p:sp>
        <p:nvSpPr>
          <p:cNvPr id="3" name="TextBox 2">
            <a:extLst>
              <a:ext uri="{FF2B5EF4-FFF2-40B4-BE49-F238E27FC236}">
                <a16:creationId xmlns:a16="http://schemas.microsoft.com/office/drawing/2014/main" id="{519CC27D-4231-0E66-4AB2-49C416682215}"/>
              </a:ext>
            </a:extLst>
          </p:cNvPr>
          <p:cNvSpPr txBox="1"/>
          <p:nvPr/>
        </p:nvSpPr>
        <p:spPr>
          <a:xfrm>
            <a:off x="986117" y="1766047"/>
            <a:ext cx="8104094" cy="4030142"/>
          </a:xfrm>
          <a:prstGeom prst="rect">
            <a:avLst/>
          </a:prstGeom>
          <a:noFill/>
        </p:spPr>
        <p:txBody>
          <a:bodyPr wrap="square" rtlCol="0">
            <a:spAutoFit/>
          </a:bodyPr>
          <a:lstStyle/>
          <a:p>
            <a:pPr marL="496570" indent="457200" algn="just">
              <a:lnSpc>
                <a:spcPct val="107000"/>
              </a:lnSpc>
            </a:pPr>
            <a:r>
              <a:rPr lang="en-IN" sz="2000" b="1" kern="100" dirty="0">
                <a:effectLst/>
                <a:latin typeface="Palatino Linotype" panose="02040502050505030304" pitchFamily="18" charset="0"/>
                <a:ea typeface="Calibri" panose="020F0502020204030204" pitchFamily="34" charset="0"/>
                <a:cs typeface="Mangal" panose="02040503050203030202" pitchFamily="18" charset="0"/>
              </a:rPr>
              <a:t>System Analysis is the process that decomposes a system into its component pieces for the purpose of defining how well those components interact to accomplish the set requirements. System design is the process of designing the elements of a system such as the architecture, modules and components, the different interfaces of those components and the data that goes through that system.</a:t>
            </a:r>
          </a:p>
          <a:p>
            <a:pPr marL="496570" indent="457200" algn="just">
              <a:lnSpc>
                <a:spcPct val="107000"/>
              </a:lnSpc>
              <a:spcAft>
                <a:spcPts val="800"/>
              </a:spcAft>
            </a:pPr>
            <a:r>
              <a:rPr lang="en-IN" sz="2000" b="1" kern="100" dirty="0">
                <a:effectLst/>
                <a:latin typeface="Palatino Linotype" panose="02040502050505030304" pitchFamily="18" charset="0"/>
                <a:ea typeface="Calibri" panose="020F0502020204030204" pitchFamily="34" charset="0"/>
                <a:cs typeface="Mangal" panose="02040503050203030202" pitchFamily="18" charset="0"/>
              </a:rPr>
              <a:t>The purpose of the system design process is to provide sufficient detailed data and information about the system and its system elements to enable the implementation consistent with architectural entities as defined in models and views of the system architecture.</a:t>
            </a:r>
          </a:p>
        </p:txBody>
      </p:sp>
    </p:spTree>
    <p:extLst>
      <p:ext uri="{BB962C8B-B14F-4D97-AF65-F5344CB8AC3E}">
        <p14:creationId xmlns:p14="http://schemas.microsoft.com/office/powerpoint/2010/main" val="1689016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A6B6A2-349D-DB5C-8960-38F67B146DE7}"/>
              </a:ext>
            </a:extLst>
          </p:cNvPr>
          <p:cNvSpPr txBox="1"/>
          <p:nvPr/>
        </p:nvSpPr>
        <p:spPr>
          <a:xfrm>
            <a:off x="3881718" y="502023"/>
            <a:ext cx="4428564" cy="646331"/>
          </a:xfrm>
          <a:prstGeom prst="rect">
            <a:avLst/>
          </a:prstGeom>
          <a:noFill/>
        </p:spPr>
        <p:txBody>
          <a:bodyPr wrap="square" rtlCol="0">
            <a:spAutoFit/>
          </a:bodyPr>
          <a:lstStyle/>
          <a:p>
            <a:r>
              <a:rPr lang="en-IN" sz="3600" b="1" dirty="0">
                <a:latin typeface="Palatino Linotype" panose="02040502050505030304" pitchFamily="18" charset="0"/>
              </a:rPr>
              <a:t>Conclusion</a:t>
            </a:r>
            <a:endParaRPr lang="en-IN" b="1" dirty="0">
              <a:latin typeface="Palatino Linotype" panose="02040502050505030304" pitchFamily="18" charset="0"/>
            </a:endParaRPr>
          </a:p>
        </p:txBody>
      </p:sp>
      <p:sp>
        <p:nvSpPr>
          <p:cNvPr id="3" name="TextBox 2">
            <a:extLst>
              <a:ext uri="{FF2B5EF4-FFF2-40B4-BE49-F238E27FC236}">
                <a16:creationId xmlns:a16="http://schemas.microsoft.com/office/drawing/2014/main" id="{8C681CD8-E035-E0BD-BC9F-A440840DD692}"/>
              </a:ext>
            </a:extLst>
          </p:cNvPr>
          <p:cNvSpPr txBox="1"/>
          <p:nvPr/>
        </p:nvSpPr>
        <p:spPr>
          <a:xfrm>
            <a:off x="896471" y="1506071"/>
            <a:ext cx="7978588" cy="5113195"/>
          </a:xfrm>
          <a:prstGeom prst="rect">
            <a:avLst/>
          </a:prstGeom>
          <a:noFill/>
        </p:spPr>
        <p:txBody>
          <a:bodyPr wrap="square" rtlCol="0">
            <a:spAutoFit/>
          </a:bodyPr>
          <a:lstStyle/>
          <a:p>
            <a:pPr marL="342900" lvl="0" indent="-342900" algn="just">
              <a:lnSpc>
                <a:spcPct val="107000"/>
              </a:lnSpc>
              <a:buFont typeface="Symbol" panose="05050102010706020507" pitchFamily="18" charset="2"/>
              <a:buChar char=""/>
            </a:pPr>
            <a:r>
              <a:rPr lang="en-IN" sz="2000" b="1" kern="100" dirty="0">
                <a:effectLst/>
                <a:latin typeface="Palatino Linotype" panose="02040502050505030304" pitchFamily="18" charset="0"/>
                <a:ea typeface="Calibri" panose="020F0502020204030204" pitchFamily="34" charset="0"/>
                <a:cs typeface="Mangal" panose="02040503050203030202" pitchFamily="18" charset="0"/>
              </a:rPr>
              <a:t>Our project is only a humble venture to satisfy the needs to manage their project work. Several user-friendly coding has also adopted. This package shall prove to be a powerful package in satisfying all the requirements of the Examination System.</a:t>
            </a:r>
          </a:p>
          <a:p>
            <a:pPr marL="228600" algn="just">
              <a:lnSpc>
                <a:spcPct val="107000"/>
              </a:lnSpc>
            </a:pPr>
            <a:r>
              <a:rPr lang="en-IN" sz="2000" b="1" kern="100" dirty="0">
                <a:effectLst/>
                <a:latin typeface="Palatino Linotype" panose="02040502050505030304" pitchFamily="18" charset="0"/>
                <a:ea typeface="Calibri" panose="020F0502020204030204" pitchFamily="34" charset="0"/>
                <a:cs typeface="Mangal" panose="02040503050203030202" pitchFamily="18" charset="0"/>
              </a:rPr>
              <a:t> </a:t>
            </a:r>
          </a:p>
          <a:p>
            <a:pPr marL="342900" lvl="0" indent="-342900" algn="just">
              <a:lnSpc>
                <a:spcPct val="107000"/>
              </a:lnSpc>
              <a:buFont typeface="Symbol" panose="05050102010706020507" pitchFamily="18" charset="2"/>
              <a:buChar char=""/>
            </a:pPr>
            <a:r>
              <a:rPr lang="en-IN" sz="2000" b="1" kern="100" dirty="0">
                <a:effectLst/>
                <a:latin typeface="Palatino Linotype" panose="02040502050505030304" pitchFamily="18" charset="0"/>
                <a:ea typeface="Calibri" panose="020F0502020204030204" pitchFamily="34" charset="0"/>
                <a:cs typeface="Mangal" panose="02040503050203030202" pitchFamily="18" charset="0"/>
              </a:rPr>
              <a:t>The objective of software planning is to provide a frame work that enables our team to make reasonable estimates made within a limited time frame at the beginning of the software project and should be updated regularly as the project progresses.</a:t>
            </a:r>
          </a:p>
          <a:p>
            <a:pPr marL="228600" algn="just">
              <a:lnSpc>
                <a:spcPct val="107000"/>
              </a:lnSpc>
            </a:pPr>
            <a:r>
              <a:rPr lang="en-IN" sz="2000" b="1" kern="100" dirty="0">
                <a:effectLst/>
                <a:latin typeface="Palatino Linotype" panose="02040502050505030304" pitchFamily="18" charset="0"/>
                <a:ea typeface="Calibri" panose="020F0502020204030204" pitchFamily="34" charset="0"/>
                <a:cs typeface="Mangal" panose="02040503050203030202" pitchFamily="18" charset="0"/>
              </a:rPr>
              <a:t> </a:t>
            </a:r>
          </a:p>
          <a:p>
            <a:pPr marL="342900" lvl="0" indent="-342900" algn="just">
              <a:lnSpc>
                <a:spcPct val="107000"/>
              </a:lnSpc>
              <a:spcAft>
                <a:spcPts val="800"/>
              </a:spcAft>
              <a:buFont typeface="Symbol" panose="05050102010706020507" pitchFamily="18" charset="2"/>
              <a:buChar char=""/>
            </a:pPr>
            <a:r>
              <a:rPr lang="en-IN" sz="2000" b="1" kern="100" dirty="0">
                <a:effectLst/>
                <a:latin typeface="Palatino Linotype" panose="02040502050505030304" pitchFamily="18" charset="0"/>
                <a:ea typeface="Calibri" panose="020F0502020204030204" pitchFamily="34" charset="0"/>
                <a:cs typeface="Mangal" panose="02040503050203030202" pitchFamily="18" charset="0"/>
              </a:rPr>
              <a:t>So, for getting desire result within the time limits. The project can be completed with proper planning.</a:t>
            </a:r>
          </a:p>
          <a:p>
            <a:endParaRPr lang="en-IN" sz="2000" b="1" dirty="0">
              <a:latin typeface="Palatino Linotype" panose="02040502050505030304" pitchFamily="18" charset="0"/>
            </a:endParaRPr>
          </a:p>
        </p:txBody>
      </p:sp>
    </p:spTree>
    <p:extLst>
      <p:ext uri="{BB962C8B-B14F-4D97-AF65-F5344CB8AC3E}">
        <p14:creationId xmlns:p14="http://schemas.microsoft.com/office/powerpoint/2010/main" val="2452277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47CF1E3-CDA8-766A-98A4-F34E56BC1945}"/>
              </a:ext>
            </a:extLst>
          </p:cNvPr>
          <p:cNvSpPr txBox="1"/>
          <p:nvPr/>
        </p:nvSpPr>
        <p:spPr>
          <a:xfrm>
            <a:off x="3227293" y="349624"/>
            <a:ext cx="3818965" cy="646331"/>
          </a:xfrm>
          <a:prstGeom prst="rect">
            <a:avLst/>
          </a:prstGeom>
          <a:noFill/>
        </p:spPr>
        <p:txBody>
          <a:bodyPr wrap="square" rtlCol="0">
            <a:spAutoFit/>
          </a:bodyPr>
          <a:lstStyle/>
          <a:p>
            <a:pPr algn="ctr"/>
            <a:r>
              <a:rPr lang="en-IN" sz="3600" b="1" dirty="0">
                <a:latin typeface="Palatino Linotype" panose="02040502050505030304" pitchFamily="18" charset="0"/>
              </a:rPr>
              <a:t>Future Plan</a:t>
            </a:r>
            <a:endParaRPr lang="en-IN" b="1" dirty="0">
              <a:latin typeface="Palatino Linotype" panose="02040502050505030304" pitchFamily="18" charset="0"/>
            </a:endParaRPr>
          </a:p>
        </p:txBody>
      </p:sp>
      <p:sp>
        <p:nvSpPr>
          <p:cNvPr id="4" name="TextBox 3">
            <a:extLst>
              <a:ext uri="{FF2B5EF4-FFF2-40B4-BE49-F238E27FC236}">
                <a16:creationId xmlns:a16="http://schemas.microsoft.com/office/drawing/2014/main" id="{148F4A3D-06BE-427D-E01F-F3062A37ECEC}"/>
              </a:ext>
            </a:extLst>
          </p:cNvPr>
          <p:cNvSpPr txBox="1"/>
          <p:nvPr/>
        </p:nvSpPr>
        <p:spPr>
          <a:xfrm>
            <a:off x="1676400" y="2043953"/>
            <a:ext cx="6490447" cy="3106491"/>
          </a:xfrm>
          <a:prstGeom prst="rect">
            <a:avLst/>
          </a:prstGeom>
          <a:noFill/>
        </p:spPr>
        <p:txBody>
          <a:bodyPr wrap="square" rtlCol="0">
            <a:spAutoFit/>
          </a:bodyPr>
          <a:lstStyle/>
          <a:p>
            <a:pPr marL="342900" lvl="0" indent="-342900">
              <a:lnSpc>
                <a:spcPct val="107000"/>
              </a:lnSpc>
              <a:buFont typeface="Symbol" panose="05050102010706020507" pitchFamily="18" charset="2"/>
              <a:buChar char=""/>
            </a:pPr>
            <a:r>
              <a:rPr lang="en-IN" sz="2000" b="1" kern="100" dirty="0">
                <a:effectLst/>
                <a:latin typeface="Palatino Linotype" panose="02040502050505030304" pitchFamily="18" charset="0"/>
                <a:ea typeface="Calibri" panose="020F0502020204030204" pitchFamily="34" charset="0"/>
                <a:cs typeface="Mangal" panose="02040503050203030202" pitchFamily="18" charset="0"/>
              </a:rPr>
              <a:t>We will host the platform on online servers to make it accessible worldwide.</a:t>
            </a:r>
            <a:endParaRPr lang="en-IN" sz="2000" b="1" kern="100" dirty="0">
              <a:effectLst/>
              <a:latin typeface="Calibri" panose="020F0502020204030204" pitchFamily="34" charset="0"/>
              <a:ea typeface="Calibri" panose="020F0502020204030204" pitchFamily="34" charset="0"/>
              <a:cs typeface="Mangal" panose="02040503050203030202" pitchFamily="18" charset="0"/>
            </a:endParaRPr>
          </a:p>
          <a:p>
            <a:pPr marL="685800">
              <a:lnSpc>
                <a:spcPct val="107000"/>
              </a:lnSpc>
            </a:pPr>
            <a:r>
              <a:rPr lang="en-IN" sz="2000" b="1" kern="100" dirty="0">
                <a:effectLst/>
                <a:latin typeface="Palatino Linotype" panose="02040502050505030304" pitchFamily="18" charset="0"/>
                <a:ea typeface="Calibri" panose="020F0502020204030204" pitchFamily="34" charset="0"/>
                <a:cs typeface="Mangal" panose="02040503050203030202" pitchFamily="18" charset="0"/>
              </a:rPr>
              <a:t> </a:t>
            </a:r>
            <a:endParaRPr lang="en-IN" sz="2000" b="1"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buFont typeface="Symbol" panose="05050102010706020507" pitchFamily="18" charset="2"/>
              <a:buChar char=""/>
            </a:pPr>
            <a:r>
              <a:rPr lang="en-IN" sz="2000" b="1" kern="100" dirty="0">
                <a:effectLst/>
                <a:latin typeface="Palatino Linotype" panose="02040502050505030304" pitchFamily="18" charset="0"/>
                <a:ea typeface="Calibri" panose="020F0502020204030204" pitchFamily="34" charset="0"/>
                <a:cs typeface="Mangal" panose="02040503050203030202" pitchFamily="18" charset="0"/>
              </a:rPr>
              <a:t>We can improve the services &amp; we can add more Services.</a:t>
            </a:r>
            <a:endParaRPr lang="en-IN" sz="2000" b="1" kern="100" dirty="0">
              <a:effectLst/>
              <a:latin typeface="Calibri" panose="020F0502020204030204" pitchFamily="34" charset="0"/>
              <a:ea typeface="Calibri" panose="020F0502020204030204" pitchFamily="34" charset="0"/>
              <a:cs typeface="Mangal" panose="02040503050203030202" pitchFamily="18" charset="0"/>
            </a:endParaRPr>
          </a:p>
          <a:p>
            <a:pPr marL="228600">
              <a:lnSpc>
                <a:spcPct val="107000"/>
              </a:lnSpc>
            </a:pPr>
            <a:r>
              <a:rPr lang="en-IN" sz="2000" b="1" kern="100" dirty="0">
                <a:effectLst/>
                <a:latin typeface="Palatino Linotype" panose="02040502050505030304" pitchFamily="18" charset="0"/>
                <a:ea typeface="Calibri" panose="020F0502020204030204" pitchFamily="34" charset="0"/>
                <a:cs typeface="Mangal" panose="02040503050203030202" pitchFamily="18" charset="0"/>
              </a:rPr>
              <a:t> </a:t>
            </a:r>
            <a:endParaRPr lang="en-IN" sz="2000" b="1" kern="100" dirty="0">
              <a:effectLst/>
              <a:latin typeface="Calibri" panose="020F0502020204030204" pitchFamily="34" charset="0"/>
              <a:ea typeface="Calibri" panose="020F0502020204030204" pitchFamily="34" charset="0"/>
              <a:cs typeface="Mangal" panose="02040503050203030202" pitchFamily="18" charset="0"/>
            </a:endParaRPr>
          </a:p>
          <a:p>
            <a:pPr marL="342900" lvl="0" indent="-342900">
              <a:lnSpc>
                <a:spcPct val="107000"/>
              </a:lnSpc>
              <a:spcAft>
                <a:spcPts val="800"/>
              </a:spcAft>
              <a:buFont typeface="Symbol" panose="05050102010706020507" pitchFamily="18" charset="2"/>
              <a:buChar char=""/>
            </a:pPr>
            <a:r>
              <a:rPr lang="en-IN" sz="2000" b="1" kern="100" dirty="0">
                <a:effectLst/>
                <a:latin typeface="Palatino Linotype" panose="02040502050505030304" pitchFamily="18" charset="0"/>
                <a:ea typeface="Calibri" panose="020F0502020204030204" pitchFamily="34" charset="0"/>
                <a:cs typeface="Mangal" panose="02040503050203030202" pitchFamily="18" charset="0"/>
              </a:rPr>
              <a:t>The project can be further extended by allowing the large database.</a:t>
            </a:r>
            <a:endParaRPr lang="en-IN" sz="2000" b="1" kern="1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spTree>
    <p:extLst>
      <p:ext uri="{BB962C8B-B14F-4D97-AF65-F5344CB8AC3E}">
        <p14:creationId xmlns:p14="http://schemas.microsoft.com/office/powerpoint/2010/main" val="3218604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1A6F5E-2BC0-3D8F-D5B9-DFE641254816}"/>
              </a:ext>
            </a:extLst>
          </p:cNvPr>
          <p:cNvSpPr txBox="1"/>
          <p:nvPr/>
        </p:nvSpPr>
        <p:spPr>
          <a:xfrm>
            <a:off x="3603811" y="2779058"/>
            <a:ext cx="3702424" cy="769441"/>
          </a:xfrm>
          <a:prstGeom prst="rect">
            <a:avLst/>
          </a:prstGeom>
          <a:noFill/>
        </p:spPr>
        <p:txBody>
          <a:bodyPr wrap="square" rtlCol="0">
            <a:spAutoFit/>
          </a:bodyPr>
          <a:lstStyle/>
          <a:p>
            <a:pPr algn="ctr"/>
            <a:r>
              <a:rPr lang="en-IN" sz="4400" b="1" dirty="0">
                <a:latin typeface="Palatino Linotype" panose="02040502050505030304" pitchFamily="18" charset="0"/>
              </a:rPr>
              <a:t>Thank You !</a:t>
            </a:r>
            <a:endParaRPr lang="en-IN" b="1" dirty="0">
              <a:latin typeface="Palatino Linotype" panose="02040502050505030304" pitchFamily="18" charset="0"/>
            </a:endParaRPr>
          </a:p>
        </p:txBody>
      </p:sp>
    </p:spTree>
    <p:extLst>
      <p:ext uri="{BB962C8B-B14F-4D97-AF65-F5344CB8AC3E}">
        <p14:creationId xmlns:p14="http://schemas.microsoft.com/office/powerpoint/2010/main" val="284288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Face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267</TotalTime>
  <Words>915</Words>
  <Application>Microsoft Office PowerPoint</Application>
  <PresentationFormat>Widescreen</PresentationFormat>
  <Paragraphs>109</Paragraphs>
  <Slides>22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Calibri</vt:lpstr>
      <vt:lpstr>Palatino Linotype</vt:lpstr>
      <vt:lpstr>Symbol</vt:lpstr>
      <vt:lpstr>Trebuchet MS</vt:lpstr>
      <vt:lpstr>Wingdings</vt:lpstr>
      <vt:lpstr>Wingdings 3</vt:lpstr>
      <vt:lpstr>Facet</vt:lpstr>
      <vt:lpstr>Project Presentation  on  Online Examination System  By  Thakare Pranoti Kamalakar (Roll No. 19) Chavan Mamta Eknath         (Roll No. 20) Ahire Nalini Ashok               (Roll No. 21) Musale Vaishnavi Kishor     (Roll No. 54)  T. Y. B. Sc. (Computer Science)</vt:lpstr>
      <vt:lpstr>INDEX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Presentation  on  Project Name  By Thakare Pranoti Kamalakar (Roll No. 19) Chavan Mamta Eknath         (Roll No. 20) Ahire Nalini Ashok               (Roll No. 21) Musale Vaishnavi Kishor     (Roll No. 54)  T. Y. B. Sc. (Computer Science)</dc:title>
  <dc:creator>Nalini Ahire</dc:creator>
  <cp:lastModifiedBy>Nalini Ahire</cp:lastModifiedBy>
  <cp:revision>15</cp:revision>
  <dcterms:created xsi:type="dcterms:W3CDTF">2023-05-25T00:23:52Z</dcterms:created>
  <dcterms:modified xsi:type="dcterms:W3CDTF">2023-05-25T10:21:15Z</dcterms:modified>
</cp:coreProperties>
</file>